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notesMasterIdLst>
    <p:notesMasterId r:id="rId8"/>
  </p:notesMasterIdLst>
  <p:sldIdLst>
    <p:sldId id="256" r:id="rId2"/>
    <p:sldId id="319" r:id="rId3"/>
    <p:sldId id="320" r:id="rId4"/>
    <p:sldId id="321" r:id="rId5"/>
    <p:sldId id="322" r:id="rId6"/>
    <p:sldId id="323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3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060"/>
    <a:srgbClr val="D6B4B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644" y="44"/>
      </p:cViewPr>
      <p:guideLst>
        <p:guide orient="horz" pos="2160"/>
        <p:guide pos="331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F60532-AC81-4152-B45E-E054A978F780}" type="datetimeFigureOut">
              <a:rPr lang="fr-FR" smtClean="0"/>
              <a:t>10/02/2026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1A4448-0F40-450F-9A3E-C9B9A6927FA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998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8970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D4FDBB9-15CD-9A55-E750-6031775C9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="" xmlns:a16="http://schemas.microsoft.com/office/drawing/2014/main" id="{6F115805-987F-AD18-ADA8-C67FB52CE4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="" xmlns:a16="http://schemas.microsoft.com/office/drawing/2014/main" id="{496AAD54-593C-6C4C-B908-EB9F95146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="" xmlns:a16="http://schemas.microsoft.com/office/drawing/2014/main" id="{2DE8A475-4C65-2ADD-6229-DDB6DAE421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76105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9282340-E5A5-843F-0F9F-0426F426A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="" xmlns:a16="http://schemas.microsoft.com/office/drawing/2014/main" id="{321A1BAB-E031-160D-0378-B57646AB3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="" xmlns:a16="http://schemas.microsoft.com/office/drawing/2014/main" id="{BBC79F47-77C7-ABC7-0AB3-1DD67E3C3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="" xmlns:a16="http://schemas.microsoft.com/office/drawing/2014/main" id="{BAD42475-93BF-E621-B433-11884CE99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55509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086E116-5BAD-DFE7-28E9-147A1ED0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="" xmlns:a16="http://schemas.microsoft.com/office/drawing/2014/main" id="{CAD6EDCE-7444-1639-E0D2-901AF63D58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="" xmlns:a16="http://schemas.microsoft.com/office/drawing/2014/main" id="{AEDFA151-47B8-0B84-C8F0-4A19D637EF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="" xmlns:a16="http://schemas.microsoft.com/office/drawing/2014/main" id="{2D3F090A-DE4E-4931-D48D-D0FCCAB37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99259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4E63DEF-6AE8-B975-3D94-E4C5AF58C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="" xmlns:a16="http://schemas.microsoft.com/office/drawing/2014/main" id="{F361CD8D-BA2A-34BF-A492-F15A03BA31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="" xmlns:a16="http://schemas.microsoft.com/office/drawing/2014/main" id="{B2D5467A-CD10-A9BF-0EEF-D6D229340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="" xmlns:a16="http://schemas.microsoft.com/office/drawing/2014/main" id="{434AA4A3-C334-3AC4-9B25-488EE3349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25475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2/10/2026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5833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=""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=""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2032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=""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79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=""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=""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=""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079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=""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=""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=""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4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=""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055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71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=""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2/10/2026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956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=""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64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93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780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818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04" r:id="rId6"/>
    <p:sldLayoutId id="2147483700" r:id="rId7"/>
    <p:sldLayoutId id="2147483701" r:id="rId8"/>
    <p:sldLayoutId id="2147483702" r:id="rId9"/>
    <p:sldLayoutId id="2147483703" r:id="rId10"/>
    <p:sldLayoutId id="21474837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8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3.png"/><Relationship Id="rId9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="" xmlns:a16="http://schemas.microsoft.com/office/drawing/2014/main" id="{526E0BFB-CDF1-4990-8C11-AC849311E0A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4C72F330-992B-B125-739B-F8303ED3A0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669" r="-1" b="426"/>
          <a:stretch/>
        </p:blipFill>
        <p:spPr>
          <a:xfrm>
            <a:off x="-2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6069A1F8-9BEB-4786-9694-FC48B2D75D2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 flipH="1">
            <a:off x="2788244" y="0"/>
            <a:ext cx="9403756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0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="" xmlns:a16="http://schemas.microsoft.com/office/drawing/2014/main" id="{CF8D1EB8-F6E7-EB54-1CC8-28472070B9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fr-FR" sz="4000" dirty="0"/>
              <a:t>ONIP-2 / FISA</a:t>
            </a:r>
            <a:br>
              <a:rPr lang="fr-FR" sz="4000" dirty="0"/>
            </a:br>
            <a:r>
              <a:rPr lang="fr-FR" sz="4000" dirty="0"/>
              <a:t/>
            </a:r>
            <a:br>
              <a:rPr lang="fr-FR" sz="4000" dirty="0"/>
            </a:br>
            <a:r>
              <a:rPr lang="fr-FR" sz="4000" dirty="0"/>
              <a:t>Prog Objet</a:t>
            </a:r>
            <a:br>
              <a:rPr lang="fr-FR" sz="4000" dirty="0"/>
            </a:br>
            <a:r>
              <a:rPr lang="fr-FR" sz="4000" dirty="0"/>
              <a:t>Diffraction</a:t>
            </a:r>
            <a:br>
              <a:rPr lang="fr-FR" sz="4000" dirty="0"/>
            </a:br>
            <a:r>
              <a:rPr lang="fr-FR" sz="4000" dirty="0"/>
              <a:t>Filtrage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="" xmlns:a16="http://schemas.microsoft.com/office/drawing/2014/main" id="{BDFEFAEF-AB6A-BE8F-01E7-845FB609F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8600" y="4872922"/>
            <a:ext cx="4023360" cy="1208141"/>
          </a:xfrm>
        </p:spPr>
        <p:txBody>
          <a:bodyPr>
            <a:normAutofit/>
          </a:bodyPr>
          <a:lstStyle/>
          <a:p>
            <a:r>
              <a:rPr lang="fr-FR" sz="2000" dirty="0"/>
              <a:t>Outils Numériques / Semestre 6 / Institut d’Optique / ONIP-2</a:t>
            </a:r>
          </a:p>
        </p:txBody>
      </p:sp>
      <p:sp>
        <p:nvSpPr>
          <p:cNvPr id="32" name="Rectangle 12">
            <a:extLst>
              <a:ext uri="{FF2B5EF4-FFF2-40B4-BE49-F238E27FC236}">
                <a16:creationId xmlns="" xmlns:a16="http://schemas.microsoft.com/office/drawing/2014/main" id="{AF2F604E-43BE-4DC3-B983-E071523364F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14">
            <a:extLst>
              <a:ext uri="{FF2B5EF4-FFF2-40B4-BE49-F238E27FC236}">
                <a16:creationId xmlns="" xmlns:a16="http://schemas.microsoft.com/office/drawing/2014/main" id="{08C9B587-E65E-4B52-B37C-ABEBB6E8792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Image 4" descr="Une image contenant texte&#10;&#10;Description générée automatiquement">
            <a:extLst>
              <a:ext uri="{FF2B5EF4-FFF2-40B4-BE49-F238E27FC236}">
                <a16:creationId xmlns="" xmlns:a16="http://schemas.microsoft.com/office/drawing/2014/main" id="{3037BA79-FF20-6017-2C77-6E9611892A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033" y="195172"/>
            <a:ext cx="2452178" cy="1007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425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=""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ONIP-2 / </a:t>
            </a:r>
            <a:r>
              <a:rPr lang="fr-FR" sz="2400" dirty="0"/>
              <a:t>S6-FISA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="" xmlns:a16="http://schemas.microsoft.com/office/drawing/2014/main" id="{9BFF7F1D-2708-E366-DB38-F68C1FBD99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pic>
        <p:nvPicPr>
          <p:cNvPr id="6" name="Image 5" descr="Une image contenant texte, capture d’écran, diagramme, cercle&#10;&#10;Description générée automatiquement">
            <a:extLst>
              <a:ext uri="{FF2B5EF4-FFF2-40B4-BE49-F238E27FC236}">
                <a16:creationId xmlns="" xmlns:a16="http://schemas.microsoft.com/office/drawing/2014/main" id="{41D73B28-2AE9-38C6-A869-2E9C6197F69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1523607"/>
            <a:ext cx="2540524" cy="190539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="" xmlns:a16="http://schemas.microsoft.com/office/drawing/2014/main" id="{EA90ECB6-7B56-1D60-77B6-5D7C0CE8D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962" y="3588547"/>
            <a:ext cx="2320850" cy="1745846"/>
          </a:xfrm>
          <a:prstGeom prst="rect">
            <a:avLst/>
          </a:prstGeom>
        </p:spPr>
      </p:pic>
      <p:pic>
        <p:nvPicPr>
          <p:cNvPr id="12" name="Image 11" descr="Une image contenant objet astronomique, obscurité, noir, Événement céleste&#10;&#10;Description générée automatiquement">
            <a:extLst>
              <a:ext uri="{FF2B5EF4-FFF2-40B4-BE49-F238E27FC236}">
                <a16:creationId xmlns="" xmlns:a16="http://schemas.microsoft.com/office/drawing/2014/main" id="{2E94095A-FE35-2913-96FE-1BBCA104822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3463" y="3588547"/>
            <a:ext cx="954786" cy="763829"/>
          </a:xfrm>
          <a:prstGeom prst="rect">
            <a:avLst/>
          </a:prstGeom>
        </p:spPr>
      </p:pic>
      <p:pic>
        <p:nvPicPr>
          <p:cNvPr id="1033" name="Picture 9">
            <a:extLst>
              <a:ext uri="{FF2B5EF4-FFF2-40B4-BE49-F238E27FC236}">
                <a16:creationId xmlns="" xmlns:a16="http://schemas.microsoft.com/office/drawing/2014/main" id="{0BA64914-94C8-22A0-1FA9-C9A2B5810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225" y="5493940"/>
            <a:ext cx="1928598" cy="132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ZoneTexte 13">
            <a:extLst>
              <a:ext uri="{FF2B5EF4-FFF2-40B4-BE49-F238E27FC236}">
                <a16:creationId xmlns="" xmlns:a16="http://schemas.microsoft.com/office/drawing/2014/main" id="{08EA18F5-D47D-89EB-8316-F37FBA9B8672}"/>
              </a:ext>
            </a:extLst>
          </p:cNvPr>
          <p:cNvSpPr txBox="1"/>
          <p:nvPr/>
        </p:nvSpPr>
        <p:spPr>
          <a:xfrm>
            <a:off x="6016751" y="3227647"/>
            <a:ext cx="5022167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lang="fr-FR" sz="2000" b="1" i="0" u="none" strike="noStrike" dirty="0">
                <a:solidFill>
                  <a:srgbClr val="0A3250"/>
                </a:solidFill>
                <a:effectLst/>
                <a:latin typeface="Century Gothic" panose="020B0502020202020204" pitchFamily="34" charset="0"/>
              </a:rPr>
              <a:t>Durée :</a:t>
            </a:r>
            <a:r>
              <a:rPr lang="fr-FR" b="1" i="0" u="none" strike="noStrike" dirty="0">
                <a:solidFill>
                  <a:srgbClr val="FF960A"/>
                </a:solidFill>
                <a:effectLst/>
                <a:latin typeface="Century Gothic" panose="020B0502020202020204" pitchFamily="34" charset="0"/>
              </a:rPr>
              <a:t> 18h </a:t>
            </a:r>
            <a:r>
              <a:rPr lang="fr-FR" b="1" i="0" u="none" strike="noStrike" dirty="0">
                <a:solidFill>
                  <a:srgbClr val="0A3250"/>
                </a:solidFill>
                <a:effectLst/>
                <a:latin typeface="Century Gothic" panose="020B0502020202020204" pitchFamily="34" charset="0"/>
              </a:rPr>
              <a:t>=</a:t>
            </a:r>
            <a:r>
              <a:rPr lang="fr-FR" b="1" i="0" u="none" strike="noStrike" dirty="0">
                <a:solidFill>
                  <a:srgbClr val="FF960A"/>
                </a:solidFill>
                <a:effectLst/>
                <a:latin typeface="Century Gothic" panose="020B0502020202020204" pitchFamily="34" charset="0"/>
              </a:rPr>
              <a:t> 9 séances de 2h</a:t>
            </a:r>
            <a:endParaRPr lang="fr-FR" sz="1600" b="0" dirty="0">
              <a:effectLst/>
            </a:endParaRPr>
          </a:p>
          <a:p>
            <a:pPr algn="ctr" rtl="0"/>
            <a:r>
              <a:rPr lang="fr-FR" sz="1600" b="0" dirty="0">
                <a:effectLst/>
              </a:rPr>
              <a:t/>
            </a:r>
            <a:br>
              <a:rPr lang="fr-FR" sz="1600" b="0" dirty="0">
                <a:effectLst/>
              </a:rPr>
            </a:br>
            <a:r>
              <a:rPr lang="fr-FR" sz="2000" b="1" i="0" u="none" strike="noStrike" dirty="0">
                <a:solidFill>
                  <a:srgbClr val="0F2548"/>
                </a:solidFill>
                <a:effectLst/>
                <a:latin typeface="Century Gothic" panose="020B0502020202020204" pitchFamily="34" charset="0"/>
              </a:rPr>
              <a:t>Forme des apprentissages :</a:t>
            </a:r>
            <a:endParaRPr lang="fr-FR" sz="1600" b="0" dirty="0">
              <a:effectLst/>
            </a:endParaRPr>
          </a:p>
          <a:p>
            <a:pPr algn="ctr" rtl="0"/>
            <a:r>
              <a:rPr lang="fr-FR" b="1" i="0" u="none" strike="noStrike" dirty="0">
                <a:solidFill>
                  <a:srgbClr val="FF960A"/>
                </a:solidFill>
                <a:effectLst/>
                <a:latin typeface="Century Gothic" panose="020B0502020202020204" pitchFamily="34" charset="0"/>
              </a:rPr>
              <a:t>Approche projet / problème</a:t>
            </a:r>
            <a:endParaRPr lang="fr-FR" sz="1600" b="0" dirty="0">
              <a:effectLst/>
            </a:endParaRPr>
          </a:p>
          <a:p>
            <a:pPr algn="ctr" rtl="0"/>
            <a:r>
              <a:rPr lang="fr-FR" sz="1600" b="0" i="1" u="none" strike="noStrike" dirty="0">
                <a:solidFill>
                  <a:srgbClr val="FF960A"/>
                </a:solidFill>
                <a:effectLst/>
                <a:latin typeface="Century Gothic" panose="020B0502020202020204" pitchFamily="34" charset="0"/>
              </a:rPr>
              <a:t>En lien avec les TP </a:t>
            </a:r>
            <a:br>
              <a:rPr lang="fr-FR" sz="1600" b="0" i="1" u="none" strike="noStrike" dirty="0">
                <a:solidFill>
                  <a:srgbClr val="FF960A"/>
                </a:solidFill>
                <a:effectLst/>
                <a:latin typeface="Century Gothic" panose="020B0502020202020204" pitchFamily="34" charset="0"/>
              </a:rPr>
            </a:br>
            <a:r>
              <a:rPr lang="fr-FR" sz="1600" b="0" i="1" u="none" strike="noStrike" dirty="0">
                <a:solidFill>
                  <a:srgbClr val="FF960A"/>
                </a:solidFill>
                <a:effectLst/>
                <a:latin typeface="Century Gothic" panose="020B0502020202020204" pitchFamily="34" charset="0"/>
              </a:rPr>
              <a:t>de diffraction et de </a:t>
            </a:r>
            <a:r>
              <a:rPr lang="fr-FR" sz="1600" b="0" i="1" u="none" strike="noStrike" dirty="0" err="1">
                <a:solidFill>
                  <a:srgbClr val="FF960A"/>
                </a:solidFill>
                <a:effectLst/>
                <a:latin typeface="Century Gothic" panose="020B0502020202020204" pitchFamily="34" charset="0"/>
              </a:rPr>
              <a:t>détramage</a:t>
            </a:r>
            <a:endParaRPr lang="fr-FR" sz="1600" b="0" dirty="0">
              <a:effectLst/>
            </a:endParaRPr>
          </a:p>
          <a:p>
            <a:pPr algn="ctr" rtl="0"/>
            <a:r>
              <a:rPr lang="fr-FR" b="1" i="0" u="none" strike="noStrike" dirty="0">
                <a:solidFill>
                  <a:srgbClr val="FF960A"/>
                </a:solidFill>
                <a:effectLst/>
                <a:latin typeface="Century Gothic" panose="020B0502020202020204" pitchFamily="34" charset="0"/>
              </a:rPr>
              <a:t>Travail en binômes sur machine</a:t>
            </a:r>
            <a:endParaRPr lang="fr-FR" sz="1600" b="0" dirty="0">
              <a:effectLst/>
            </a:endParaRPr>
          </a:p>
          <a:p>
            <a:pPr algn="ctr" rtl="0"/>
            <a:r>
              <a:rPr lang="fr-FR" sz="1600" b="0" dirty="0">
                <a:effectLst/>
              </a:rPr>
              <a:t/>
            </a:r>
            <a:br>
              <a:rPr lang="fr-FR" sz="1600" b="0" dirty="0">
                <a:effectLst/>
              </a:rPr>
            </a:br>
            <a:r>
              <a:rPr lang="fr-FR" sz="2000" b="1" i="0" u="none" strike="noStrike" dirty="0">
                <a:solidFill>
                  <a:srgbClr val="0F2548"/>
                </a:solidFill>
                <a:effectLst/>
                <a:latin typeface="Century Gothic" panose="020B0502020202020204" pitchFamily="34" charset="0"/>
              </a:rPr>
              <a:t>Evaluations :</a:t>
            </a:r>
            <a:endParaRPr lang="fr-FR" sz="1600" b="0" dirty="0">
              <a:effectLst/>
            </a:endParaRPr>
          </a:p>
          <a:p>
            <a:pPr algn="ctr" rtl="0"/>
            <a:r>
              <a:rPr lang="fr-FR" sz="1600" b="1" i="0" u="none" strike="noStrike" dirty="0">
                <a:solidFill>
                  <a:srgbClr val="FF960A"/>
                </a:solidFill>
                <a:effectLst/>
                <a:latin typeface="Century Gothic" panose="020B0502020202020204" pitchFamily="34" charset="0"/>
              </a:rPr>
              <a:t>Compte-rendu de TP</a:t>
            </a:r>
            <a:endParaRPr lang="fr-FR" sz="1600" b="0" dirty="0">
              <a:effectLst/>
            </a:endParaRPr>
          </a:p>
          <a:p>
            <a:pPr algn="ctr" rtl="0"/>
            <a:r>
              <a:rPr lang="fr-FR" sz="1600" b="1" i="0" u="none" strike="noStrike" dirty="0">
                <a:solidFill>
                  <a:srgbClr val="FF960A"/>
                </a:solidFill>
                <a:effectLst/>
                <a:latin typeface="Century Gothic" panose="020B0502020202020204" pitchFamily="34" charset="0"/>
              </a:rPr>
              <a:t>Participation / Programmation</a:t>
            </a:r>
            <a:endParaRPr lang="fr-FR" sz="1600" dirty="0"/>
          </a:p>
        </p:txBody>
      </p:sp>
      <p:sp>
        <p:nvSpPr>
          <p:cNvPr id="16" name="ZoneTexte 15">
            <a:extLst>
              <a:ext uri="{FF2B5EF4-FFF2-40B4-BE49-F238E27FC236}">
                <a16:creationId xmlns="" xmlns:a16="http://schemas.microsoft.com/office/drawing/2014/main" id="{B13828AC-7338-0BED-B0D1-992FC15C18CA}"/>
              </a:ext>
            </a:extLst>
          </p:cNvPr>
          <p:cNvSpPr txBox="1"/>
          <p:nvPr/>
        </p:nvSpPr>
        <p:spPr>
          <a:xfrm>
            <a:off x="4479060" y="1950627"/>
            <a:ext cx="60944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/>
            <a:r>
              <a:rPr lang="fr-FR" sz="1800" b="0" i="0" u="none" strike="noStrike" dirty="0">
                <a:solidFill>
                  <a:srgbClr val="0A3250"/>
                </a:solidFill>
                <a:effectLst/>
                <a:latin typeface="Arial" panose="020B0604020202020204" pitchFamily="34" charset="0"/>
              </a:rPr>
              <a:t>Concevoir et mettre en place un </a:t>
            </a:r>
            <a:r>
              <a:rPr lang="fr-FR" sz="1800" b="1" i="0" u="none" strike="noStrike" dirty="0">
                <a:solidFill>
                  <a:srgbClr val="0A3250"/>
                </a:solidFill>
                <a:effectLst/>
                <a:latin typeface="Arial" panose="020B0604020202020204" pitchFamily="34" charset="0"/>
              </a:rPr>
              <a:t>programme informatique de simulation</a:t>
            </a:r>
            <a:r>
              <a:rPr lang="fr-FR" sz="1800" b="0" i="0" u="none" strike="noStrike" dirty="0">
                <a:solidFill>
                  <a:srgbClr val="0A3250"/>
                </a:solidFill>
                <a:effectLst/>
                <a:latin typeface="Arial" panose="020B0604020202020204" pitchFamily="34" charset="0"/>
              </a:rPr>
              <a:t> ou/et </a:t>
            </a:r>
            <a:r>
              <a:rPr lang="fr-FR" sz="1800" b="1" i="0" u="none" strike="noStrike" dirty="0">
                <a:solidFill>
                  <a:srgbClr val="0A3250"/>
                </a:solidFill>
                <a:effectLst/>
                <a:latin typeface="Arial" panose="020B0604020202020204" pitchFamily="34" charset="0"/>
              </a:rPr>
              <a:t>de traitement de données</a:t>
            </a:r>
            <a:r>
              <a:rPr lang="fr-FR" sz="1800" b="0" i="0" u="none" strike="noStrike" dirty="0">
                <a:solidFill>
                  <a:srgbClr val="0A3250"/>
                </a:solidFill>
                <a:effectLst/>
                <a:latin typeface="Arial" panose="020B0604020202020204" pitchFamily="34" charset="0"/>
              </a:rPr>
              <a:t> (sous Python) dans un </a:t>
            </a:r>
            <a:r>
              <a:rPr lang="fr-FR" sz="1800" b="1" i="1" u="none" strike="noStrike" dirty="0">
                <a:solidFill>
                  <a:srgbClr val="0A3250"/>
                </a:solidFill>
                <a:effectLst/>
                <a:latin typeface="Arial" panose="020B0604020202020204" pitchFamily="34" charset="0"/>
              </a:rPr>
              <a:t>contexte scientifique</a:t>
            </a:r>
            <a:r>
              <a:rPr lang="fr-FR" sz="1800" b="0" i="0" u="none" strike="noStrike" dirty="0">
                <a:solidFill>
                  <a:srgbClr val="0A3250"/>
                </a:solidFill>
                <a:effectLst/>
                <a:latin typeface="Arial" panose="020B0604020202020204" pitchFamily="34" charset="0"/>
              </a:rPr>
              <a:t>. </a:t>
            </a:r>
            <a:endParaRPr lang="fr-FR" b="0" dirty="0">
              <a:effectLst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="" xmlns:a16="http://schemas.microsoft.com/office/drawing/2014/main" id="{E1D563A4-A05F-AD9F-4D49-EDEFD3A9281E}"/>
              </a:ext>
            </a:extLst>
          </p:cNvPr>
          <p:cNvSpPr/>
          <p:nvPr/>
        </p:nvSpPr>
        <p:spPr>
          <a:xfrm>
            <a:off x="4081653" y="203738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="" xmlns:a16="http://schemas.microsoft.com/office/drawing/2014/main" id="{805BD89E-1061-2B91-7007-F92F55C492C4}"/>
              </a:ext>
            </a:extLst>
          </p:cNvPr>
          <p:cNvSpPr/>
          <p:nvPr/>
        </p:nvSpPr>
        <p:spPr>
          <a:xfrm>
            <a:off x="6278506" y="3213642"/>
            <a:ext cx="140582" cy="316886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="" xmlns:a16="http://schemas.microsoft.com/office/drawing/2014/main" id="{C6427CA2-2C50-B85E-A851-5DAB22DCA842}"/>
              </a:ext>
            </a:extLst>
          </p:cNvPr>
          <p:cNvSpPr txBox="1"/>
          <p:nvPr/>
        </p:nvSpPr>
        <p:spPr>
          <a:xfrm>
            <a:off x="3620079" y="3445161"/>
            <a:ext cx="19362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fr-FR" b="1" dirty="0"/>
              <a:t>3 séquences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="" xmlns:a16="http://schemas.microsoft.com/office/drawing/2014/main" id="{DFAA30B8-A15C-FB9E-729B-E540795C8D0B}"/>
              </a:ext>
            </a:extLst>
          </p:cNvPr>
          <p:cNvSpPr/>
          <p:nvPr/>
        </p:nvSpPr>
        <p:spPr>
          <a:xfrm>
            <a:off x="3620079" y="3970461"/>
            <a:ext cx="2320850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Programmation Objet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="" xmlns:a16="http://schemas.microsoft.com/office/drawing/2014/main" id="{539EDA54-EDAE-109E-9AA2-DF71B8750102}"/>
              </a:ext>
            </a:extLst>
          </p:cNvPr>
          <p:cNvSpPr/>
          <p:nvPr/>
        </p:nvSpPr>
        <p:spPr>
          <a:xfrm>
            <a:off x="3620079" y="4613410"/>
            <a:ext cx="2320850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Filtrage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="" xmlns:a16="http://schemas.microsoft.com/office/drawing/2014/main" id="{4541FA77-1D53-67E8-533B-97AD6B14781C}"/>
              </a:ext>
            </a:extLst>
          </p:cNvPr>
          <p:cNvSpPr/>
          <p:nvPr/>
        </p:nvSpPr>
        <p:spPr>
          <a:xfrm>
            <a:off x="3620079" y="5256359"/>
            <a:ext cx="232085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Diffraction</a:t>
            </a:r>
          </a:p>
        </p:txBody>
      </p:sp>
    </p:spTree>
    <p:extLst>
      <p:ext uri="{BB962C8B-B14F-4D97-AF65-F5344CB8AC3E}">
        <p14:creationId xmlns:p14="http://schemas.microsoft.com/office/powerpoint/2010/main" val="33813052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955DEA2-6250-6A02-DC18-B2689B869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16EAC753-DD00-7FF7-5A28-AF44C19141A2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="" xmlns:a16="http://schemas.microsoft.com/office/drawing/2014/main" id="{F074150E-74C9-0933-2894-BCE82D2563D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ONIP-2 / </a:t>
            </a:r>
            <a:r>
              <a:rPr lang="fr-FR" sz="2400" dirty="0"/>
              <a:t>Déroulement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1FE82EF4-6E9E-9498-BB05-22BE57675BFC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="" xmlns:a16="http://schemas.microsoft.com/office/drawing/2014/main" id="{2FBA3EC0-160B-2722-D278-A9B69E92467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pic>
        <p:nvPicPr>
          <p:cNvPr id="6" name="Image 5" descr="Une image contenant texte, capture d’écran, diagramme, cercle&#10;&#10;Description générée automatiquement">
            <a:extLst>
              <a:ext uri="{FF2B5EF4-FFF2-40B4-BE49-F238E27FC236}">
                <a16:creationId xmlns="" xmlns:a16="http://schemas.microsoft.com/office/drawing/2014/main" id="{4F6758FB-F39B-D731-11C2-3D77E4E0F1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1523607"/>
            <a:ext cx="2540524" cy="190539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="" xmlns:a16="http://schemas.microsoft.com/office/drawing/2014/main" id="{9FCFD44B-E758-B0A5-1359-8D5DEB4CE2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962" y="3588547"/>
            <a:ext cx="2320850" cy="1745846"/>
          </a:xfrm>
          <a:prstGeom prst="rect">
            <a:avLst/>
          </a:prstGeom>
        </p:spPr>
      </p:pic>
      <p:pic>
        <p:nvPicPr>
          <p:cNvPr id="12" name="Image 11" descr="Une image contenant objet astronomique, obscurité, noir, Événement céleste&#10;&#10;Description générée automatiquement">
            <a:extLst>
              <a:ext uri="{FF2B5EF4-FFF2-40B4-BE49-F238E27FC236}">
                <a16:creationId xmlns="" xmlns:a16="http://schemas.microsoft.com/office/drawing/2014/main" id="{E2DB7374-39F9-5DBE-1E6E-B1F21BB3F29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3463" y="3588547"/>
            <a:ext cx="954786" cy="763829"/>
          </a:xfrm>
          <a:prstGeom prst="rect">
            <a:avLst/>
          </a:prstGeom>
        </p:spPr>
      </p:pic>
      <p:pic>
        <p:nvPicPr>
          <p:cNvPr id="1033" name="Picture 9">
            <a:extLst>
              <a:ext uri="{FF2B5EF4-FFF2-40B4-BE49-F238E27FC236}">
                <a16:creationId xmlns="" xmlns:a16="http://schemas.microsoft.com/office/drawing/2014/main" id="{2FAE40F2-0A1E-5C46-E8D4-F1B6572F0E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225" y="5493940"/>
            <a:ext cx="1928598" cy="132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ZoneTexte 8">
            <a:extLst>
              <a:ext uri="{FF2B5EF4-FFF2-40B4-BE49-F238E27FC236}">
                <a16:creationId xmlns="" xmlns:a16="http://schemas.microsoft.com/office/drawing/2014/main" id="{0FF35711-3A82-D001-2D6F-C7D2682E035D}"/>
              </a:ext>
            </a:extLst>
          </p:cNvPr>
          <p:cNvSpPr txBox="1"/>
          <p:nvPr/>
        </p:nvSpPr>
        <p:spPr>
          <a:xfrm>
            <a:off x="3620079" y="3445161"/>
            <a:ext cx="19362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fr-FR" b="1" dirty="0"/>
              <a:t>3 séquences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="" xmlns:a16="http://schemas.microsoft.com/office/drawing/2014/main" id="{421867DA-C259-6780-3D39-CBB4D8A931FD}"/>
              </a:ext>
            </a:extLst>
          </p:cNvPr>
          <p:cNvSpPr/>
          <p:nvPr/>
        </p:nvSpPr>
        <p:spPr>
          <a:xfrm>
            <a:off x="3620079" y="1631562"/>
            <a:ext cx="2670992" cy="25730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TP1 - Diffraction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="" xmlns:a16="http://schemas.microsoft.com/office/drawing/2014/main" id="{4E79CBC9-0C6F-91CE-69EC-B5A8C175A745}"/>
              </a:ext>
            </a:extLst>
          </p:cNvPr>
          <p:cNvSpPr/>
          <p:nvPr/>
        </p:nvSpPr>
        <p:spPr>
          <a:xfrm>
            <a:off x="3620078" y="1943269"/>
            <a:ext cx="2670993" cy="257305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TP2/3 – Filtrage </a:t>
            </a:r>
            <a:r>
              <a:rPr lang="fr-FR" sz="1400" b="1" dirty="0" err="1">
                <a:solidFill>
                  <a:schemeClr val="tx1"/>
                </a:solidFill>
              </a:rPr>
              <a:t>Détramage</a:t>
            </a:r>
            <a:endParaRPr lang="fr-FR" sz="1400" b="1" dirty="0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="" xmlns:a16="http://schemas.microsoft.com/office/drawing/2014/main" id="{D3493EC3-3ED3-AC71-68C6-6E3C8A4F5004}"/>
              </a:ext>
            </a:extLst>
          </p:cNvPr>
          <p:cNvSpPr/>
          <p:nvPr/>
        </p:nvSpPr>
        <p:spPr>
          <a:xfrm>
            <a:off x="3620079" y="3970461"/>
            <a:ext cx="2320850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Programmation Objet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="" xmlns:a16="http://schemas.microsoft.com/office/drawing/2014/main" id="{164B6199-89B5-2EE0-51F1-6C921DBCBC9E}"/>
              </a:ext>
            </a:extLst>
          </p:cNvPr>
          <p:cNvSpPr/>
          <p:nvPr/>
        </p:nvSpPr>
        <p:spPr>
          <a:xfrm>
            <a:off x="3620079" y="4613410"/>
            <a:ext cx="2320850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Filtrage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="" xmlns:a16="http://schemas.microsoft.com/office/drawing/2014/main" id="{980EFC03-3AF4-1F55-F5EF-A0828D36E150}"/>
              </a:ext>
            </a:extLst>
          </p:cNvPr>
          <p:cNvSpPr/>
          <p:nvPr/>
        </p:nvSpPr>
        <p:spPr>
          <a:xfrm>
            <a:off x="3620079" y="5256359"/>
            <a:ext cx="232085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Diffraction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D8BE85BC-4EC6-68AE-673A-DB0EFDBD3520}"/>
              </a:ext>
            </a:extLst>
          </p:cNvPr>
          <p:cNvSpPr/>
          <p:nvPr/>
        </p:nvSpPr>
        <p:spPr>
          <a:xfrm>
            <a:off x="11297413" y="1702590"/>
            <a:ext cx="387096" cy="369332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E03280E2-A3F0-03CB-7863-26E43FDFAACD}"/>
              </a:ext>
            </a:extLst>
          </p:cNvPr>
          <p:cNvSpPr/>
          <p:nvPr/>
        </p:nvSpPr>
        <p:spPr>
          <a:xfrm>
            <a:off x="10332720" y="2102563"/>
            <a:ext cx="73119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TP1a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="" xmlns:a16="http://schemas.microsoft.com/office/drawing/2014/main" id="{098DA644-EC8C-61FE-90A2-778EF2B7DF36}"/>
              </a:ext>
            </a:extLst>
          </p:cNvPr>
          <p:cNvSpPr/>
          <p:nvPr/>
        </p:nvSpPr>
        <p:spPr>
          <a:xfrm>
            <a:off x="11297413" y="2102563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1</a:t>
            </a:r>
            <a:endParaRPr lang="fr-FR" sz="1600" dirty="0"/>
          </a:p>
        </p:txBody>
      </p:sp>
      <p:sp>
        <p:nvSpPr>
          <p:cNvPr id="14" name="Rectangle 13">
            <a:extLst>
              <a:ext uri="{FF2B5EF4-FFF2-40B4-BE49-F238E27FC236}">
                <a16:creationId xmlns="" xmlns:a16="http://schemas.microsoft.com/office/drawing/2014/main" id="{021B992C-31E5-6213-5092-4CCBE55F2B39}"/>
              </a:ext>
            </a:extLst>
          </p:cNvPr>
          <p:cNvSpPr/>
          <p:nvPr/>
        </p:nvSpPr>
        <p:spPr>
          <a:xfrm>
            <a:off x="11297413" y="2502536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2</a:t>
            </a:r>
            <a:endParaRPr lang="fr-FR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="" xmlns:a16="http://schemas.microsoft.com/office/drawing/2014/main" id="{0D770ED0-474D-9648-552F-CF79EB8C490D}"/>
              </a:ext>
            </a:extLst>
          </p:cNvPr>
          <p:cNvSpPr/>
          <p:nvPr/>
        </p:nvSpPr>
        <p:spPr>
          <a:xfrm>
            <a:off x="11327289" y="4467223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7</a:t>
            </a:r>
            <a:endParaRPr lang="fr-FR" sz="1600" dirty="0"/>
          </a:p>
        </p:txBody>
      </p:sp>
      <p:sp>
        <p:nvSpPr>
          <p:cNvPr id="16" name="Rectangle 15">
            <a:extLst>
              <a:ext uri="{FF2B5EF4-FFF2-40B4-BE49-F238E27FC236}">
                <a16:creationId xmlns="" xmlns:a16="http://schemas.microsoft.com/office/drawing/2014/main" id="{AD6AB33F-119B-3F1B-F6FF-1B69419C6403}"/>
              </a:ext>
            </a:extLst>
          </p:cNvPr>
          <p:cNvSpPr/>
          <p:nvPr/>
        </p:nvSpPr>
        <p:spPr>
          <a:xfrm>
            <a:off x="10332720" y="3244334"/>
            <a:ext cx="761073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TP1b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="" xmlns:a16="http://schemas.microsoft.com/office/drawing/2014/main" id="{FB575922-835C-241C-709B-AB12BD7E173C}"/>
              </a:ext>
            </a:extLst>
          </p:cNvPr>
          <p:cNvSpPr/>
          <p:nvPr/>
        </p:nvSpPr>
        <p:spPr>
          <a:xfrm>
            <a:off x="10332720" y="3644307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TP2a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="" xmlns:a16="http://schemas.microsoft.com/office/drawing/2014/main" id="{86F7F968-D1E2-15AA-9E7A-58F30CD84152}"/>
              </a:ext>
            </a:extLst>
          </p:cNvPr>
          <p:cNvSpPr/>
          <p:nvPr/>
        </p:nvSpPr>
        <p:spPr>
          <a:xfrm>
            <a:off x="10332720" y="4044280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TP2b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="" xmlns:a16="http://schemas.microsoft.com/office/drawing/2014/main" id="{B4740186-9013-1F9D-7EA1-44560C103898}"/>
              </a:ext>
            </a:extLst>
          </p:cNvPr>
          <p:cNvSpPr/>
          <p:nvPr/>
        </p:nvSpPr>
        <p:spPr>
          <a:xfrm>
            <a:off x="11327289" y="3644307"/>
            <a:ext cx="387096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4</a:t>
            </a:r>
            <a:endParaRPr lang="fr-FR" sz="1600" dirty="0"/>
          </a:p>
        </p:txBody>
      </p:sp>
      <p:sp>
        <p:nvSpPr>
          <p:cNvPr id="21" name="Rectangle 20">
            <a:extLst>
              <a:ext uri="{FF2B5EF4-FFF2-40B4-BE49-F238E27FC236}">
                <a16:creationId xmlns="" xmlns:a16="http://schemas.microsoft.com/office/drawing/2014/main" id="{040E83FC-64FA-353E-D05A-9B1F5F5F25C8}"/>
              </a:ext>
            </a:extLst>
          </p:cNvPr>
          <p:cNvSpPr/>
          <p:nvPr/>
        </p:nvSpPr>
        <p:spPr>
          <a:xfrm>
            <a:off x="11327289" y="4044280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6</a:t>
            </a:r>
            <a:endParaRPr lang="fr-FR" sz="1600" dirty="0"/>
          </a:p>
        </p:txBody>
      </p:sp>
      <p:sp>
        <p:nvSpPr>
          <p:cNvPr id="23" name="Rectangle 22">
            <a:extLst>
              <a:ext uri="{FF2B5EF4-FFF2-40B4-BE49-F238E27FC236}">
                <a16:creationId xmlns="" xmlns:a16="http://schemas.microsoft.com/office/drawing/2014/main" id="{5DF7F23C-EF65-9DE8-7387-640B14B54474}"/>
              </a:ext>
            </a:extLst>
          </p:cNvPr>
          <p:cNvSpPr/>
          <p:nvPr/>
        </p:nvSpPr>
        <p:spPr>
          <a:xfrm>
            <a:off x="10332720" y="4479277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TP3a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="" xmlns:a16="http://schemas.microsoft.com/office/drawing/2014/main" id="{D81CF90D-44C0-BB2F-D938-BCC20C548A91}"/>
              </a:ext>
            </a:extLst>
          </p:cNvPr>
          <p:cNvSpPr/>
          <p:nvPr/>
        </p:nvSpPr>
        <p:spPr>
          <a:xfrm>
            <a:off x="10332720" y="5221587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TP3b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="" xmlns:a16="http://schemas.microsoft.com/office/drawing/2014/main" id="{9BED3722-DE00-706C-1FEF-87BE444AB70F}"/>
              </a:ext>
            </a:extLst>
          </p:cNvPr>
          <p:cNvSpPr/>
          <p:nvPr/>
        </p:nvSpPr>
        <p:spPr>
          <a:xfrm>
            <a:off x="11327289" y="5621560"/>
            <a:ext cx="387096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9</a:t>
            </a:r>
            <a:endParaRPr lang="fr-FR" sz="1600" dirty="0"/>
          </a:p>
        </p:txBody>
      </p:sp>
      <p:sp>
        <p:nvSpPr>
          <p:cNvPr id="56" name="Rectangle 55">
            <a:extLst>
              <a:ext uri="{FF2B5EF4-FFF2-40B4-BE49-F238E27FC236}">
                <a16:creationId xmlns="" xmlns:a16="http://schemas.microsoft.com/office/drawing/2014/main" id="{D8DCA5EE-EC8C-762E-F627-A72AA8861359}"/>
              </a:ext>
            </a:extLst>
          </p:cNvPr>
          <p:cNvSpPr/>
          <p:nvPr/>
        </p:nvSpPr>
        <p:spPr>
          <a:xfrm>
            <a:off x="10703028" y="5625691"/>
            <a:ext cx="387096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8</a:t>
            </a:r>
            <a:endParaRPr lang="fr-FR" sz="1600" dirty="0"/>
          </a:p>
        </p:txBody>
      </p:sp>
      <p:sp>
        <p:nvSpPr>
          <p:cNvPr id="57" name="Rectangle 56">
            <a:extLst>
              <a:ext uri="{FF2B5EF4-FFF2-40B4-BE49-F238E27FC236}">
                <a16:creationId xmlns="" xmlns:a16="http://schemas.microsoft.com/office/drawing/2014/main" id="{73BFF83E-CD23-C05E-0C43-DDC2DBC90EAF}"/>
              </a:ext>
            </a:extLst>
          </p:cNvPr>
          <p:cNvSpPr/>
          <p:nvPr/>
        </p:nvSpPr>
        <p:spPr>
          <a:xfrm>
            <a:off x="10130029" y="1485258"/>
            <a:ext cx="1554480" cy="14630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/>
              <a:t>ENTREPRISE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="" xmlns:a16="http://schemas.microsoft.com/office/drawing/2014/main" id="{15CB116D-1016-8888-8DA0-C2E41081E8BF}"/>
              </a:ext>
            </a:extLst>
          </p:cNvPr>
          <p:cNvSpPr/>
          <p:nvPr/>
        </p:nvSpPr>
        <p:spPr>
          <a:xfrm>
            <a:off x="10130029" y="2963188"/>
            <a:ext cx="1554480" cy="14630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/>
              <a:t>ENTREPRISE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="" xmlns:a16="http://schemas.microsoft.com/office/drawing/2014/main" id="{16DF2A7E-C2C5-8E04-1F92-9CF79CBD9578}"/>
              </a:ext>
            </a:extLst>
          </p:cNvPr>
          <p:cNvSpPr/>
          <p:nvPr/>
        </p:nvSpPr>
        <p:spPr>
          <a:xfrm>
            <a:off x="10130029" y="4942242"/>
            <a:ext cx="1554480" cy="14630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/>
              <a:t>ENTREPRISE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="" xmlns:a16="http://schemas.microsoft.com/office/drawing/2014/main" id="{A0EB135E-EF9B-D1F5-E612-5F0F278D99FE}"/>
              </a:ext>
            </a:extLst>
          </p:cNvPr>
          <p:cNvSpPr/>
          <p:nvPr/>
        </p:nvSpPr>
        <p:spPr>
          <a:xfrm>
            <a:off x="11327289" y="3237259"/>
            <a:ext cx="387096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3</a:t>
            </a:r>
            <a:endParaRPr lang="fr-FR" sz="1600" dirty="0"/>
          </a:p>
        </p:txBody>
      </p:sp>
      <p:sp>
        <p:nvSpPr>
          <p:cNvPr id="36" name="Rectangle 35">
            <a:extLst>
              <a:ext uri="{FF2B5EF4-FFF2-40B4-BE49-F238E27FC236}">
                <a16:creationId xmlns="" xmlns:a16="http://schemas.microsoft.com/office/drawing/2014/main" id="{040E83FC-64FA-353E-D05A-9B1F5F5F25C8}"/>
              </a:ext>
            </a:extLst>
          </p:cNvPr>
          <p:cNvSpPr/>
          <p:nvPr/>
        </p:nvSpPr>
        <p:spPr>
          <a:xfrm>
            <a:off x="9808481" y="4044280"/>
            <a:ext cx="387096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5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223342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90B1B58-F078-3C7F-0130-1A2EBD43C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41B0A54D-D5B9-02E6-9442-0CB0D1AABA17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="" xmlns:a16="http://schemas.microsoft.com/office/drawing/2014/main" id="{7A833A44-A1DB-9B3D-1FBE-7DA753DF1653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ONIP-2 / </a:t>
            </a:r>
            <a:r>
              <a:rPr lang="fr-FR" sz="2400" dirty="0"/>
              <a:t>Mini-projet – Programmation Objet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7D72C413-2A56-552F-C04C-302D3C0719D8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="" xmlns:a16="http://schemas.microsoft.com/office/drawing/2014/main" id="{368120FE-3612-90D6-9645-E7566241082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="" xmlns:a16="http://schemas.microsoft.com/office/drawing/2014/main" id="{57149524-46AB-A188-54FE-067CF6B8C3DD}"/>
              </a:ext>
            </a:extLst>
          </p:cNvPr>
          <p:cNvSpPr/>
          <p:nvPr/>
        </p:nvSpPr>
        <p:spPr>
          <a:xfrm>
            <a:off x="681196" y="1553267"/>
            <a:ext cx="2320850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Programmation Objet</a:t>
            </a:r>
          </a:p>
        </p:txBody>
      </p:sp>
      <p:sp>
        <p:nvSpPr>
          <p:cNvPr id="8" name="Espace réservé du contenu 2">
            <a:extLst>
              <a:ext uri="{FF2B5EF4-FFF2-40B4-BE49-F238E27FC236}">
                <a16:creationId xmlns="" xmlns:a16="http://schemas.microsoft.com/office/drawing/2014/main" id="{A38A4034-2013-694E-317C-CA80A0C33FE0}"/>
              </a:ext>
            </a:extLst>
          </p:cNvPr>
          <p:cNvSpPr txBox="1">
            <a:spLocks/>
          </p:cNvSpPr>
          <p:nvPr/>
        </p:nvSpPr>
        <p:spPr>
          <a:xfrm>
            <a:off x="619125" y="2095937"/>
            <a:ext cx="6919854" cy="43365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2000" b="1" dirty="0">
                <a:solidFill>
                  <a:srgbClr val="0070C0"/>
                </a:solidFill>
              </a:rPr>
              <a:t>Carte d’éclairement de sources incohérentes</a:t>
            </a:r>
            <a:endParaRPr lang="fr-FR" sz="2000" dirty="0">
              <a:solidFill>
                <a:srgbClr val="0070C0"/>
              </a:solidFill>
            </a:endParaRPr>
          </a:p>
        </p:txBody>
      </p:sp>
      <p:pic>
        <p:nvPicPr>
          <p:cNvPr id="11" name="Image 10" descr="Une image contenant capture d’écran, Caractère coloré, texte&#10;&#10;Description générée automatiquement">
            <a:extLst>
              <a:ext uri="{FF2B5EF4-FFF2-40B4-BE49-F238E27FC236}">
                <a16:creationId xmlns="" xmlns:a16="http://schemas.microsoft.com/office/drawing/2014/main" id="{FD206508-6A0D-9278-03BA-2221407EEC5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358" y="2571851"/>
            <a:ext cx="2937511" cy="2203133"/>
          </a:xfrm>
          <a:prstGeom prst="rect">
            <a:avLst/>
          </a:prstGeom>
        </p:spPr>
      </p:pic>
      <p:pic>
        <p:nvPicPr>
          <p:cNvPr id="13" name="Image 12" descr="Une image contenant texte, capture d’écran, diagramme, cercle&#10;&#10;Description générée automatiquement">
            <a:extLst>
              <a:ext uri="{FF2B5EF4-FFF2-40B4-BE49-F238E27FC236}">
                <a16:creationId xmlns="" xmlns:a16="http://schemas.microsoft.com/office/drawing/2014/main" id="{A0346C71-171A-E533-A986-735B50C564B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200" y="2571851"/>
            <a:ext cx="2937512" cy="2203134"/>
          </a:xfrm>
          <a:prstGeom prst="rect">
            <a:avLst/>
          </a:prstGeom>
        </p:spPr>
      </p:pic>
      <p:pic>
        <p:nvPicPr>
          <p:cNvPr id="14" name="Image 13" descr="Une image contenant diagramme, cercle, ligne&#10;&#10;Description générée automatiquement">
            <a:extLst>
              <a:ext uri="{FF2B5EF4-FFF2-40B4-BE49-F238E27FC236}">
                <a16:creationId xmlns="" xmlns:a16="http://schemas.microsoft.com/office/drawing/2014/main" id="{04BE68A8-8134-4AD4-4F8E-BD9B5B050DE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862" y="4684371"/>
            <a:ext cx="2937511" cy="2203134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="" xmlns:a16="http://schemas.microsoft.com/office/drawing/2014/main" id="{62DFEDC8-57F5-90F7-1AA8-818E5FEE26AC}"/>
              </a:ext>
            </a:extLst>
          </p:cNvPr>
          <p:cNvSpPr/>
          <p:nvPr/>
        </p:nvSpPr>
        <p:spPr>
          <a:xfrm>
            <a:off x="3208868" y="1553267"/>
            <a:ext cx="2320850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4 séances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="" xmlns:a16="http://schemas.microsoft.com/office/drawing/2014/main" id="{04E68D62-ABE7-EBC3-669A-3114E2347A97}"/>
              </a:ext>
            </a:extLst>
          </p:cNvPr>
          <p:cNvSpPr txBox="1"/>
          <p:nvPr/>
        </p:nvSpPr>
        <p:spPr>
          <a:xfrm>
            <a:off x="3048762" y="4944419"/>
            <a:ext cx="60944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LMRomanDemi10-Regular"/>
              </a:rPr>
              <a:t>Source caractérisée par leur indicatrice de rayonnement</a:t>
            </a:r>
            <a:endParaRPr lang="fr-FR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="" xmlns:a16="http://schemas.microsoft.com/office/drawing/2014/main" id="{44249670-F41B-AA61-2363-FA4D52A4C4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55504" y="5252196"/>
            <a:ext cx="3370326" cy="463806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="" xmlns:a16="http://schemas.microsoft.com/office/drawing/2014/main" id="{0B5C3842-53F6-1FE4-7F0D-3CC71590D351}"/>
              </a:ext>
            </a:extLst>
          </p:cNvPr>
          <p:cNvSpPr txBox="1"/>
          <p:nvPr/>
        </p:nvSpPr>
        <p:spPr>
          <a:xfrm>
            <a:off x="3048762" y="5840088"/>
            <a:ext cx="60944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LMRomanDemi10-Regular"/>
              </a:rPr>
              <a:t>Eclairement d’une source ponctuelle donnée par la formule de Bouguer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="" xmlns:a16="http://schemas.microsoft.com/office/drawing/2014/main" id="{039CF40B-DA85-BE5C-32D6-086959B8B0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8869" y="6173836"/>
            <a:ext cx="1658014" cy="598902"/>
          </a:xfrm>
          <a:prstGeom prst="rect">
            <a:avLst/>
          </a:prstGeom>
        </p:spPr>
      </p:pic>
      <p:pic>
        <p:nvPicPr>
          <p:cNvPr id="24" name="Image 23" descr="Une image contenant texte, cercle, capture d’écran, diagramme&#10;&#10;Description générée automatiquement">
            <a:extLst>
              <a:ext uri="{FF2B5EF4-FFF2-40B4-BE49-F238E27FC236}">
                <a16:creationId xmlns="" xmlns:a16="http://schemas.microsoft.com/office/drawing/2014/main" id="{3E9CBA34-4118-218A-CD1D-D98062E25AD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2878" y="2699021"/>
            <a:ext cx="1988963" cy="1491722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="" xmlns:a16="http://schemas.microsoft.com/office/drawing/2014/main" id="{44EF7028-C890-F605-2508-B8EBDB5481D9}"/>
              </a:ext>
            </a:extLst>
          </p:cNvPr>
          <p:cNvSpPr/>
          <p:nvPr/>
        </p:nvSpPr>
        <p:spPr>
          <a:xfrm>
            <a:off x="8596281" y="6073652"/>
            <a:ext cx="2212848" cy="69059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Code commenté</a:t>
            </a:r>
          </a:p>
          <a:p>
            <a:pPr algn="ctr"/>
            <a:r>
              <a:rPr lang="fr-FR" sz="1200" dirty="0"/>
              <a:t>Validation des simulations</a:t>
            </a:r>
          </a:p>
          <a:p>
            <a:pPr algn="ctr"/>
            <a:r>
              <a:rPr lang="fr-FR" sz="1200" dirty="0"/>
              <a:t>Figures pertinentes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="" xmlns:a16="http://schemas.microsoft.com/office/drawing/2014/main" id="{D8BE85BC-4EC6-68AE-673A-DB0EFDBD3520}"/>
              </a:ext>
            </a:extLst>
          </p:cNvPr>
          <p:cNvSpPr/>
          <p:nvPr/>
        </p:nvSpPr>
        <p:spPr>
          <a:xfrm>
            <a:off x="11297413" y="1702590"/>
            <a:ext cx="387096" cy="369332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37" name="Rectangle 36">
            <a:extLst>
              <a:ext uri="{FF2B5EF4-FFF2-40B4-BE49-F238E27FC236}">
                <a16:creationId xmlns="" xmlns:a16="http://schemas.microsoft.com/office/drawing/2014/main" id="{E03280E2-A3F0-03CB-7863-26E43FDFAACD}"/>
              </a:ext>
            </a:extLst>
          </p:cNvPr>
          <p:cNvSpPr/>
          <p:nvPr/>
        </p:nvSpPr>
        <p:spPr>
          <a:xfrm>
            <a:off x="10332720" y="2102563"/>
            <a:ext cx="73119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TP1a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="" xmlns:a16="http://schemas.microsoft.com/office/drawing/2014/main" id="{098DA644-EC8C-61FE-90A2-778EF2B7DF36}"/>
              </a:ext>
            </a:extLst>
          </p:cNvPr>
          <p:cNvSpPr/>
          <p:nvPr/>
        </p:nvSpPr>
        <p:spPr>
          <a:xfrm>
            <a:off x="11297413" y="2102563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1</a:t>
            </a:r>
            <a:endParaRPr lang="fr-FR" sz="1600" dirty="0"/>
          </a:p>
        </p:txBody>
      </p:sp>
      <p:sp>
        <p:nvSpPr>
          <p:cNvPr id="39" name="Rectangle 38">
            <a:extLst>
              <a:ext uri="{FF2B5EF4-FFF2-40B4-BE49-F238E27FC236}">
                <a16:creationId xmlns="" xmlns:a16="http://schemas.microsoft.com/office/drawing/2014/main" id="{021B992C-31E5-6213-5092-4CCBE55F2B39}"/>
              </a:ext>
            </a:extLst>
          </p:cNvPr>
          <p:cNvSpPr/>
          <p:nvPr/>
        </p:nvSpPr>
        <p:spPr>
          <a:xfrm>
            <a:off x="11297413" y="2502536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2</a:t>
            </a:r>
            <a:endParaRPr lang="fr-FR" sz="1600" dirty="0"/>
          </a:p>
        </p:txBody>
      </p:sp>
      <p:sp>
        <p:nvSpPr>
          <p:cNvPr id="40" name="Rectangle 39">
            <a:extLst>
              <a:ext uri="{FF2B5EF4-FFF2-40B4-BE49-F238E27FC236}">
                <a16:creationId xmlns="" xmlns:a16="http://schemas.microsoft.com/office/drawing/2014/main" id="{0D770ED0-474D-9648-552F-CF79EB8C490D}"/>
              </a:ext>
            </a:extLst>
          </p:cNvPr>
          <p:cNvSpPr/>
          <p:nvPr/>
        </p:nvSpPr>
        <p:spPr>
          <a:xfrm>
            <a:off x="11327289" y="4467223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7</a:t>
            </a:r>
            <a:endParaRPr lang="fr-FR" sz="1600" dirty="0"/>
          </a:p>
        </p:txBody>
      </p:sp>
      <p:sp>
        <p:nvSpPr>
          <p:cNvPr id="41" name="Rectangle 40">
            <a:extLst>
              <a:ext uri="{FF2B5EF4-FFF2-40B4-BE49-F238E27FC236}">
                <a16:creationId xmlns="" xmlns:a16="http://schemas.microsoft.com/office/drawing/2014/main" id="{AD6AB33F-119B-3F1B-F6FF-1B69419C6403}"/>
              </a:ext>
            </a:extLst>
          </p:cNvPr>
          <p:cNvSpPr/>
          <p:nvPr/>
        </p:nvSpPr>
        <p:spPr>
          <a:xfrm>
            <a:off x="10332720" y="3244334"/>
            <a:ext cx="761073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TP1b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="" xmlns:a16="http://schemas.microsoft.com/office/drawing/2014/main" id="{FB575922-835C-241C-709B-AB12BD7E173C}"/>
              </a:ext>
            </a:extLst>
          </p:cNvPr>
          <p:cNvSpPr/>
          <p:nvPr/>
        </p:nvSpPr>
        <p:spPr>
          <a:xfrm>
            <a:off x="10332720" y="3644307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TP2a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="" xmlns:a16="http://schemas.microsoft.com/office/drawing/2014/main" id="{86F7F968-D1E2-15AA-9E7A-58F30CD84152}"/>
              </a:ext>
            </a:extLst>
          </p:cNvPr>
          <p:cNvSpPr/>
          <p:nvPr/>
        </p:nvSpPr>
        <p:spPr>
          <a:xfrm>
            <a:off x="10332720" y="4044280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TP2b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="" xmlns:a16="http://schemas.microsoft.com/office/drawing/2014/main" id="{B4740186-9013-1F9D-7EA1-44560C103898}"/>
              </a:ext>
            </a:extLst>
          </p:cNvPr>
          <p:cNvSpPr/>
          <p:nvPr/>
        </p:nvSpPr>
        <p:spPr>
          <a:xfrm>
            <a:off x="11327289" y="3644307"/>
            <a:ext cx="387096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4</a:t>
            </a:r>
            <a:endParaRPr lang="fr-FR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="" xmlns:a16="http://schemas.microsoft.com/office/drawing/2014/main" id="{040E83FC-64FA-353E-D05A-9B1F5F5F25C8}"/>
              </a:ext>
            </a:extLst>
          </p:cNvPr>
          <p:cNvSpPr/>
          <p:nvPr/>
        </p:nvSpPr>
        <p:spPr>
          <a:xfrm>
            <a:off x="11327289" y="4044280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6</a:t>
            </a:r>
            <a:endParaRPr lang="fr-FR" sz="1600" dirty="0"/>
          </a:p>
        </p:txBody>
      </p:sp>
      <p:sp>
        <p:nvSpPr>
          <p:cNvPr id="48" name="Rectangle 47">
            <a:extLst>
              <a:ext uri="{FF2B5EF4-FFF2-40B4-BE49-F238E27FC236}">
                <a16:creationId xmlns="" xmlns:a16="http://schemas.microsoft.com/office/drawing/2014/main" id="{5DF7F23C-EF65-9DE8-7387-640B14B54474}"/>
              </a:ext>
            </a:extLst>
          </p:cNvPr>
          <p:cNvSpPr/>
          <p:nvPr/>
        </p:nvSpPr>
        <p:spPr>
          <a:xfrm>
            <a:off x="10332720" y="4479277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TP3a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="" xmlns:a16="http://schemas.microsoft.com/office/drawing/2014/main" id="{D81CF90D-44C0-BB2F-D938-BCC20C548A91}"/>
              </a:ext>
            </a:extLst>
          </p:cNvPr>
          <p:cNvSpPr/>
          <p:nvPr/>
        </p:nvSpPr>
        <p:spPr>
          <a:xfrm>
            <a:off x="10332720" y="5221587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TP3b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="" xmlns:a16="http://schemas.microsoft.com/office/drawing/2014/main" id="{9BED3722-DE00-706C-1FEF-87BE444AB70F}"/>
              </a:ext>
            </a:extLst>
          </p:cNvPr>
          <p:cNvSpPr/>
          <p:nvPr/>
        </p:nvSpPr>
        <p:spPr>
          <a:xfrm>
            <a:off x="11327289" y="5621560"/>
            <a:ext cx="387096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9</a:t>
            </a:r>
            <a:endParaRPr lang="fr-FR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="" xmlns:a16="http://schemas.microsoft.com/office/drawing/2014/main" id="{D8DCA5EE-EC8C-762E-F627-A72AA8861359}"/>
              </a:ext>
            </a:extLst>
          </p:cNvPr>
          <p:cNvSpPr/>
          <p:nvPr/>
        </p:nvSpPr>
        <p:spPr>
          <a:xfrm>
            <a:off x="10703028" y="5625691"/>
            <a:ext cx="387096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8</a:t>
            </a:r>
            <a:endParaRPr lang="fr-FR" sz="1600" dirty="0"/>
          </a:p>
        </p:txBody>
      </p:sp>
      <p:sp>
        <p:nvSpPr>
          <p:cNvPr id="52" name="Rectangle 51">
            <a:extLst>
              <a:ext uri="{FF2B5EF4-FFF2-40B4-BE49-F238E27FC236}">
                <a16:creationId xmlns="" xmlns:a16="http://schemas.microsoft.com/office/drawing/2014/main" id="{73BFF83E-CD23-C05E-0C43-DDC2DBC90EAF}"/>
              </a:ext>
            </a:extLst>
          </p:cNvPr>
          <p:cNvSpPr/>
          <p:nvPr/>
        </p:nvSpPr>
        <p:spPr>
          <a:xfrm>
            <a:off x="10130029" y="1485258"/>
            <a:ext cx="1554480" cy="14630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/>
              <a:t>ENTREPRISE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="" xmlns:a16="http://schemas.microsoft.com/office/drawing/2014/main" id="{15CB116D-1016-8888-8DA0-C2E41081E8BF}"/>
              </a:ext>
            </a:extLst>
          </p:cNvPr>
          <p:cNvSpPr/>
          <p:nvPr/>
        </p:nvSpPr>
        <p:spPr>
          <a:xfrm>
            <a:off x="10130029" y="2963188"/>
            <a:ext cx="1554480" cy="14630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/>
              <a:t>ENTREPRISE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="" xmlns:a16="http://schemas.microsoft.com/office/drawing/2014/main" id="{16DF2A7E-C2C5-8E04-1F92-9CF79CBD9578}"/>
              </a:ext>
            </a:extLst>
          </p:cNvPr>
          <p:cNvSpPr/>
          <p:nvPr/>
        </p:nvSpPr>
        <p:spPr>
          <a:xfrm>
            <a:off x="10130029" y="4942242"/>
            <a:ext cx="1554480" cy="14630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/>
              <a:t>ENTREPRISE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="" xmlns:a16="http://schemas.microsoft.com/office/drawing/2014/main" id="{A0EB135E-EF9B-D1F5-E612-5F0F278D99FE}"/>
              </a:ext>
            </a:extLst>
          </p:cNvPr>
          <p:cNvSpPr/>
          <p:nvPr/>
        </p:nvSpPr>
        <p:spPr>
          <a:xfrm>
            <a:off x="11327289" y="3237259"/>
            <a:ext cx="387096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3</a:t>
            </a:r>
            <a:endParaRPr lang="fr-FR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="" xmlns:a16="http://schemas.microsoft.com/office/drawing/2014/main" id="{040E83FC-64FA-353E-D05A-9B1F5F5F25C8}"/>
              </a:ext>
            </a:extLst>
          </p:cNvPr>
          <p:cNvSpPr/>
          <p:nvPr/>
        </p:nvSpPr>
        <p:spPr>
          <a:xfrm>
            <a:off x="9808481" y="4044280"/>
            <a:ext cx="387096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5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8161558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3CE303B-014A-633E-7EBE-AC14D0DFA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BD4B6072-C59D-37C1-1688-3BD276015680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="" xmlns:a16="http://schemas.microsoft.com/office/drawing/2014/main" id="{57E1E669-D844-DC35-8505-7DDBC216264E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ONIP-2 / </a:t>
            </a:r>
            <a:r>
              <a:rPr lang="fr-FR" sz="2400" dirty="0" err="1"/>
              <a:t>Détramage</a:t>
            </a:r>
            <a:r>
              <a:rPr lang="fr-FR" sz="2400" dirty="0"/>
              <a:t> et filtrage (TP)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BC9C6E6F-3E98-F0A0-D4C0-7D2F7CE478C5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="" xmlns:a16="http://schemas.microsoft.com/office/drawing/2014/main" id="{3C4D5E5E-37CA-181E-7A40-316F297116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="" xmlns:a16="http://schemas.microsoft.com/office/drawing/2014/main" id="{E33C49E3-B9B0-062A-C5E8-6538A54BFB9C}"/>
              </a:ext>
            </a:extLst>
          </p:cNvPr>
          <p:cNvSpPr/>
          <p:nvPr/>
        </p:nvSpPr>
        <p:spPr>
          <a:xfrm>
            <a:off x="681196" y="1553267"/>
            <a:ext cx="2320850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Filtrage</a:t>
            </a:r>
          </a:p>
        </p:txBody>
      </p:sp>
      <p:sp>
        <p:nvSpPr>
          <p:cNvPr id="8" name="Espace réservé du contenu 2">
            <a:extLst>
              <a:ext uri="{FF2B5EF4-FFF2-40B4-BE49-F238E27FC236}">
                <a16:creationId xmlns="" xmlns:a16="http://schemas.microsoft.com/office/drawing/2014/main" id="{107FB0E2-E114-85E4-4C51-3C577FFC6549}"/>
              </a:ext>
            </a:extLst>
          </p:cNvPr>
          <p:cNvSpPr txBox="1">
            <a:spLocks/>
          </p:cNvSpPr>
          <p:nvPr/>
        </p:nvSpPr>
        <p:spPr>
          <a:xfrm>
            <a:off x="619125" y="2095937"/>
            <a:ext cx="6919854" cy="43365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2000" b="1" dirty="0">
                <a:solidFill>
                  <a:srgbClr val="0070C0"/>
                </a:solidFill>
              </a:rPr>
              <a:t>Simulation des expériences de </a:t>
            </a:r>
            <a:r>
              <a:rPr lang="fr-FR" sz="2000" b="1" dirty="0" err="1">
                <a:solidFill>
                  <a:srgbClr val="0070C0"/>
                </a:solidFill>
              </a:rPr>
              <a:t>détramage</a:t>
            </a:r>
            <a:r>
              <a:rPr lang="fr-FR" sz="2000" b="1" dirty="0">
                <a:solidFill>
                  <a:srgbClr val="0070C0"/>
                </a:solidFill>
              </a:rPr>
              <a:t> / filtrage</a:t>
            </a:r>
            <a:endParaRPr lang="fr-FR" sz="2000" dirty="0">
              <a:solidFill>
                <a:srgbClr val="0070C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="" xmlns:a16="http://schemas.microsoft.com/office/drawing/2014/main" id="{F627AC63-3856-EAC2-E7A6-F9B0D31A0708}"/>
              </a:ext>
            </a:extLst>
          </p:cNvPr>
          <p:cNvSpPr/>
          <p:nvPr/>
        </p:nvSpPr>
        <p:spPr>
          <a:xfrm>
            <a:off x="3208868" y="1553267"/>
            <a:ext cx="2320850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2 séances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="" xmlns:a16="http://schemas.microsoft.com/office/drawing/2014/main" id="{BE28CA3B-D87A-119A-A72F-E028657516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802" y="2894315"/>
            <a:ext cx="3550081" cy="3073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Image 11">
            <a:extLst>
              <a:ext uri="{FF2B5EF4-FFF2-40B4-BE49-F238E27FC236}">
                <a16:creationId xmlns="" xmlns:a16="http://schemas.microsoft.com/office/drawing/2014/main" id="{D9212513-8C8F-7D55-57F0-0E34557FCB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4658" y="4413612"/>
            <a:ext cx="1528731" cy="1052208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="" xmlns:a16="http://schemas.microsoft.com/office/drawing/2014/main" id="{E55F03FF-BDDA-0A9D-5717-8791350052A5}"/>
              </a:ext>
            </a:extLst>
          </p:cNvPr>
          <p:cNvSpPr txBox="1"/>
          <p:nvPr/>
        </p:nvSpPr>
        <p:spPr>
          <a:xfrm>
            <a:off x="4690532" y="2955603"/>
            <a:ext cx="2521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LMRomanDemi10-Regular"/>
              </a:rPr>
              <a:t>Génération de trames</a:t>
            </a:r>
            <a:endParaRPr lang="fr-FR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="" xmlns:a16="http://schemas.microsoft.com/office/drawing/2014/main" id="{C189D0D3-B115-56F7-0DD9-2CB1F9FC7331}"/>
              </a:ext>
            </a:extLst>
          </p:cNvPr>
          <p:cNvSpPr txBox="1"/>
          <p:nvPr/>
        </p:nvSpPr>
        <p:spPr>
          <a:xfrm>
            <a:off x="4714653" y="3287873"/>
            <a:ext cx="2521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LMRomanDemi10-Regular"/>
              </a:rPr>
              <a:t>Calcul de FFT sur des images</a:t>
            </a:r>
            <a:endParaRPr lang="fr-FR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1" name="ZoneTexte 20">
            <a:extLst>
              <a:ext uri="{FF2B5EF4-FFF2-40B4-BE49-F238E27FC236}">
                <a16:creationId xmlns="" xmlns:a16="http://schemas.microsoft.com/office/drawing/2014/main" id="{060BF138-E45C-69DB-640C-D11B752AD634}"/>
              </a:ext>
            </a:extLst>
          </p:cNvPr>
          <p:cNvSpPr txBox="1"/>
          <p:nvPr/>
        </p:nvSpPr>
        <p:spPr>
          <a:xfrm>
            <a:off x="4714653" y="3638981"/>
            <a:ext cx="2521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LMRomanDemi10-Regular"/>
              </a:rPr>
              <a:t>Détramage</a:t>
            </a: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LMRomanDemi10-Regular"/>
              </a:rPr>
              <a:t> / Filtrage</a:t>
            </a:r>
            <a:endParaRPr lang="fr-FR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="" xmlns:a16="http://schemas.microsoft.com/office/drawing/2014/main" id="{D35B99FC-8C3E-DAB2-0D3F-E7C9349BB23A}"/>
              </a:ext>
            </a:extLst>
          </p:cNvPr>
          <p:cNvSpPr/>
          <p:nvPr/>
        </p:nvSpPr>
        <p:spPr>
          <a:xfrm>
            <a:off x="8596281" y="6073652"/>
            <a:ext cx="2212848" cy="69059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Démarche scientifique</a:t>
            </a:r>
          </a:p>
          <a:p>
            <a:pPr algn="ctr"/>
            <a:r>
              <a:rPr lang="fr-FR" sz="1200" dirty="0">
                <a:solidFill>
                  <a:schemeClr val="tx1"/>
                </a:solidFill>
              </a:rPr>
              <a:t>Figures pertinentes</a:t>
            </a:r>
          </a:p>
          <a:p>
            <a:pPr algn="ctr"/>
            <a:r>
              <a:rPr lang="fr-FR" sz="1200" dirty="0">
                <a:solidFill>
                  <a:schemeClr val="tx1"/>
                </a:solidFill>
              </a:rPr>
              <a:t>Analyse des phénomènes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="" xmlns:a16="http://schemas.microsoft.com/office/drawing/2014/main" id="{D8BE85BC-4EC6-68AE-673A-DB0EFDBD3520}"/>
              </a:ext>
            </a:extLst>
          </p:cNvPr>
          <p:cNvSpPr/>
          <p:nvPr/>
        </p:nvSpPr>
        <p:spPr>
          <a:xfrm>
            <a:off x="11297413" y="1702590"/>
            <a:ext cx="387096" cy="369332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35" name="Rectangle 34">
            <a:extLst>
              <a:ext uri="{FF2B5EF4-FFF2-40B4-BE49-F238E27FC236}">
                <a16:creationId xmlns="" xmlns:a16="http://schemas.microsoft.com/office/drawing/2014/main" id="{E03280E2-A3F0-03CB-7863-26E43FDFAACD}"/>
              </a:ext>
            </a:extLst>
          </p:cNvPr>
          <p:cNvSpPr/>
          <p:nvPr/>
        </p:nvSpPr>
        <p:spPr>
          <a:xfrm>
            <a:off x="10332720" y="2102563"/>
            <a:ext cx="73119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TP1a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="" xmlns:a16="http://schemas.microsoft.com/office/drawing/2014/main" id="{098DA644-EC8C-61FE-90A2-778EF2B7DF36}"/>
              </a:ext>
            </a:extLst>
          </p:cNvPr>
          <p:cNvSpPr/>
          <p:nvPr/>
        </p:nvSpPr>
        <p:spPr>
          <a:xfrm>
            <a:off x="11297413" y="2102563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1</a:t>
            </a:r>
            <a:endParaRPr lang="fr-FR" sz="1600" dirty="0"/>
          </a:p>
        </p:txBody>
      </p:sp>
      <p:sp>
        <p:nvSpPr>
          <p:cNvPr id="37" name="Rectangle 36">
            <a:extLst>
              <a:ext uri="{FF2B5EF4-FFF2-40B4-BE49-F238E27FC236}">
                <a16:creationId xmlns="" xmlns:a16="http://schemas.microsoft.com/office/drawing/2014/main" id="{021B992C-31E5-6213-5092-4CCBE55F2B39}"/>
              </a:ext>
            </a:extLst>
          </p:cNvPr>
          <p:cNvSpPr/>
          <p:nvPr/>
        </p:nvSpPr>
        <p:spPr>
          <a:xfrm>
            <a:off x="11297413" y="2502536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2</a:t>
            </a:r>
            <a:endParaRPr lang="fr-FR" sz="1600" dirty="0"/>
          </a:p>
        </p:txBody>
      </p:sp>
      <p:sp>
        <p:nvSpPr>
          <p:cNvPr id="38" name="Rectangle 37">
            <a:extLst>
              <a:ext uri="{FF2B5EF4-FFF2-40B4-BE49-F238E27FC236}">
                <a16:creationId xmlns="" xmlns:a16="http://schemas.microsoft.com/office/drawing/2014/main" id="{0D770ED0-474D-9648-552F-CF79EB8C490D}"/>
              </a:ext>
            </a:extLst>
          </p:cNvPr>
          <p:cNvSpPr/>
          <p:nvPr/>
        </p:nvSpPr>
        <p:spPr>
          <a:xfrm>
            <a:off x="11327289" y="4467223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7</a:t>
            </a:r>
            <a:endParaRPr lang="fr-FR" sz="1600" dirty="0"/>
          </a:p>
        </p:txBody>
      </p:sp>
      <p:sp>
        <p:nvSpPr>
          <p:cNvPr id="39" name="Rectangle 38">
            <a:extLst>
              <a:ext uri="{FF2B5EF4-FFF2-40B4-BE49-F238E27FC236}">
                <a16:creationId xmlns="" xmlns:a16="http://schemas.microsoft.com/office/drawing/2014/main" id="{AD6AB33F-119B-3F1B-F6FF-1B69419C6403}"/>
              </a:ext>
            </a:extLst>
          </p:cNvPr>
          <p:cNvSpPr/>
          <p:nvPr/>
        </p:nvSpPr>
        <p:spPr>
          <a:xfrm>
            <a:off x="10332720" y="3244334"/>
            <a:ext cx="761073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TP1b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="" xmlns:a16="http://schemas.microsoft.com/office/drawing/2014/main" id="{FB575922-835C-241C-709B-AB12BD7E173C}"/>
              </a:ext>
            </a:extLst>
          </p:cNvPr>
          <p:cNvSpPr/>
          <p:nvPr/>
        </p:nvSpPr>
        <p:spPr>
          <a:xfrm>
            <a:off x="10332720" y="3644307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TP2a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="" xmlns:a16="http://schemas.microsoft.com/office/drawing/2014/main" id="{86F7F968-D1E2-15AA-9E7A-58F30CD84152}"/>
              </a:ext>
            </a:extLst>
          </p:cNvPr>
          <p:cNvSpPr/>
          <p:nvPr/>
        </p:nvSpPr>
        <p:spPr>
          <a:xfrm>
            <a:off x="10332720" y="4044280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TP2b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="" xmlns:a16="http://schemas.microsoft.com/office/drawing/2014/main" id="{B4740186-9013-1F9D-7EA1-44560C103898}"/>
              </a:ext>
            </a:extLst>
          </p:cNvPr>
          <p:cNvSpPr/>
          <p:nvPr/>
        </p:nvSpPr>
        <p:spPr>
          <a:xfrm>
            <a:off x="11327289" y="3644307"/>
            <a:ext cx="387096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4</a:t>
            </a:r>
            <a:endParaRPr lang="fr-FR" sz="1600" dirty="0"/>
          </a:p>
        </p:txBody>
      </p:sp>
      <p:sp>
        <p:nvSpPr>
          <p:cNvPr id="45" name="Rectangle 44">
            <a:extLst>
              <a:ext uri="{FF2B5EF4-FFF2-40B4-BE49-F238E27FC236}">
                <a16:creationId xmlns="" xmlns:a16="http://schemas.microsoft.com/office/drawing/2014/main" id="{040E83FC-64FA-353E-D05A-9B1F5F5F25C8}"/>
              </a:ext>
            </a:extLst>
          </p:cNvPr>
          <p:cNvSpPr/>
          <p:nvPr/>
        </p:nvSpPr>
        <p:spPr>
          <a:xfrm>
            <a:off x="11327289" y="4044280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6</a:t>
            </a:r>
            <a:endParaRPr lang="fr-FR" sz="1600" dirty="0"/>
          </a:p>
        </p:txBody>
      </p:sp>
      <p:sp>
        <p:nvSpPr>
          <p:cNvPr id="46" name="Rectangle 45">
            <a:extLst>
              <a:ext uri="{FF2B5EF4-FFF2-40B4-BE49-F238E27FC236}">
                <a16:creationId xmlns="" xmlns:a16="http://schemas.microsoft.com/office/drawing/2014/main" id="{5DF7F23C-EF65-9DE8-7387-640B14B54474}"/>
              </a:ext>
            </a:extLst>
          </p:cNvPr>
          <p:cNvSpPr/>
          <p:nvPr/>
        </p:nvSpPr>
        <p:spPr>
          <a:xfrm>
            <a:off x="10332720" y="4479277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TP3a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="" xmlns:a16="http://schemas.microsoft.com/office/drawing/2014/main" id="{D81CF90D-44C0-BB2F-D938-BCC20C548A91}"/>
              </a:ext>
            </a:extLst>
          </p:cNvPr>
          <p:cNvSpPr/>
          <p:nvPr/>
        </p:nvSpPr>
        <p:spPr>
          <a:xfrm>
            <a:off x="10332720" y="5221587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TP3b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="" xmlns:a16="http://schemas.microsoft.com/office/drawing/2014/main" id="{9BED3722-DE00-706C-1FEF-87BE444AB70F}"/>
              </a:ext>
            </a:extLst>
          </p:cNvPr>
          <p:cNvSpPr/>
          <p:nvPr/>
        </p:nvSpPr>
        <p:spPr>
          <a:xfrm>
            <a:off x="11327289" y="5621560"/>
            <a:ext cx="387096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9</a:t>
            </a:r>
            <a:endParaRPr lang="fr-FR" sz="1600" dirty="0"/>
          </a:p>
        </p:txBody>
      </p:sp>
      <p:sp>
        <p:nvSpPr>
          <p:cNvPr id="49" name="Rectangle 48">
            <a:extLst>
              <a:ext uri="{FF2B5EF4-FFF2-40B4-BE49-F238E27FC236}">
                <a16:creationId xmlns="" xmlns:a16="http://schemas.microsoft.com/office/drawing/2014/main" id="{D8DCA5EE-EC8C-762E-F627-A72AA8861359}"/>
              </a:ext>
            </a:extLst>
          </p:cNvPr>
          <p:cNvSpPr/>
          <p:nvPr/>
        </p:nvSpPr>
        <p:spPr>
          <a:xfrm>
            <a:off x="10703028" y="5625691"/>
            <a:ext cx="387096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8</a:t>
            </a:r>
            <a:endParaRPr lang="fr-FR" sz="1600" dirty="0"/>
          </a:p>
        </p:txBody>
      </p:sp>
      <p:sp>
        <p:nvSpPr>
          <p:cNvPr id="50" name="Rectangle 49">
            <a:extLst>
              <a:ext uri="{FF2B5EF4-FFF2-40B4-BE49-F238E27FC236}">
                <a16:creationId xmlns="" xmlns:a16="http://schemas.microsoft.com/office/drawing/2014/main" id="{73BFF83E-CD23-C05E-0C43-DDC2DBC90EAF}"/>
              </a:ext>
            </a:extLst>
          </p:cNvPr>
          <p:cNvSpPr/>
          <p:nvPr/>
        </p:nvSpPr>
        <p:spPr>
          <a:xfrm>
            <a:off x="10130029" y="1485258"/>
            <a:ext cx="1554480" cy="14630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/>
              <a:t>ENTREPRISE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="" xmlns:a16="http://schemas.microsoft.com/office/drawing/2014/main" id="{15CB116D-1016-8888-8DA0-C2E41081E8BF}"/>
              </a:ext>
            </a:extLst>
          </p:cNvPr>
          <p:cNvSpPr/>
          <p:nvPr/>
        </p:nvSpPr>
        <p:spPr>
          <a:xfrm>
            <a:off x="10130029" y="2963188"/>
            <a:ext cx="1554480" cy="14630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/>
              <a:t>ENTREPRISE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="" xmlns:a16="http://schemas.microsoft.com/office/drawing/2014/main" id="{16DF2A7E-C2C5-8E04-1F92-9CF79CBD9578}"/>
              </a:ext>
            </a:extLst>
          </p:cNvPr>
          <p:cNvSpPr/>
          <p:nvPr/>
        </p:nvSpPr>
        <p:spPr>
          <a:xfrm>
            <a:off x="10130029" y="4942242"/>
            <a:ext cx="1554480" cy="14630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/>
              <a:t>ENTREPRISE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="" xmlns:a16="http://schemas.microsoft.com/office/drawing/2014/main" id="{A0EB135E-EF9B-D1F5-E612-5F0F278D99FE}"/>
              </a:ext>
            </a:extLst>
          </p:cNvPr>
          <p:cNvSpPr/>
          <p:nvPr/>
        </p:nvSpPr>
        <p:spPr>
          <a:xfrm>
            <a:off x="11327289" y="3237259"/>
            <a:ext cx="387096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3</a:t>
            </a:r>
            <a:endParaRPr lang="fr-FR" sz="1600" dirty="0"/>
          </a:p>
        </p:txBody>
      </p:sp>
      <p:sp>
        <p:nvSpPr>
          <p:cNvPr id="60" name="Rectangle 59">
            <a:extLst>
              <a:ext uri="{FF2B5EF4-FFF2-40B4-BE49-F238E27FC236}">
                <a16:creationId xmlns="" xmlns:a16="http://schemas.microsoft.com/office/drawing/2014/main" id="{040E83FC-64FA-353E-D05A-9B1F5F5F25C8}"/>
              </a:ext>
            </a:extLst>
          </p:cNvPr>
          <p:cNvSpPr/>
          <p:nvPr/>
        </p:nvSpPr>
        <p:spPr>
          <a:xfrm>
            <a:off x="9808481" y="4044280"/>
            <a:ext cx="387096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5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3196274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7293255-D3A1-E9EE-75F7-8CF981A3E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 descr="Une image contenant Caractère coloré, capture d’écran, cercle&#10;&#10;Description générée automatiquement">
            <a:extLst>
              <a:ext uri="{FF2B5EF4-FFF2-40B4-BE49-F238E27FC236}">
                <a16:creationId xmlns="" xmlns:a16="http://schemas.microsoft.com/office/drawing/2014/main" id="{8A23C983-CBA0-7A26-69A1-FA18BFCE8F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9658" y="2373869"/>
            <a:ext cx="3318612" cy="248895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42BE0EC6-6A12-2CB4-7DD8-89ED894F2FD5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="" xmlns:a16="http://schemas.microsoft.com/office/drawing/2014/main" id="{CCD4DA90-1A67-8BAB-2941-7382D814332A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ONIP-2 / </a:t>
            </a:r>
            <a:r>
              <a:rPr lang="fr-FR" sz="2400" dirty="0"/>
              <a:t>Diffraction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3547985-68A5-A169-8C99-8AF0E138E86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="" xmlns:a16="http://schemas.microsoft.com/office/drawing/2014/main" id="{9DE2E9F7-41F0-0DAE-0C56-14406819A1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="" xmlns:a16="http://schemas.microsoft.com/office/drawing/2014/main" id="{12F39415-3E21-0455-CB07-DAB7BDD797FA}"/>
              </a:ext>
            </a:extLst>
          </p:cNvPr>
          <p:cNvSpPr/>
          <p:nvPr/>
        </p:nvSpPr>
        <p:spPr>
          <a:xfrm>
            <a:off x="681196" y="1553267"/>
            <a:ext cx="2320850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Diffraction</a:t>
            </a:r>
          </a:p>
        </p:txBody>
      </p:sp>
      <p:sp>
        <p:nvSpPr>
          <p:cNvPr id="8" name="Espace réservé du contenu 2">
            <a:extLst>
              <a:ext uri="{FF2B5EF4-FFF2-40B4-BE49-F238E27FC236}">
                <a16:creationId xmlns="" xmlns:a16="http://schemas.microsoft.com/office/drawing/2014/main" id="{A4F39768-9C57-9BEB-2B05-879774034514}"/>
              </a:ext>
            </a:extLst>
          </p:cNvPr>
          <p:cNvSpPr txBox="1">
            <a:spLocks/>
          </p:cNvSpPr>
          <p:nvPr/>
        </p:nvSpPr>
        <p:spPr>
          <a:xfrm>
            <a:off x="619125" y="2095937"/>
            <a:ext cx="6919854" cy="43365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2000" b="1" dirty="0">
                <a:solidFill>
                  <a:srgbClr val="0070C0"/>
                </a:solidFill>
              </a:rPr>
              <a:t>Analyse des images de diffraction</a:t>
            </a:r>
            <a:endParaRPr lang="fr-FR" sz="2000" dirty="0">
              <a:solidFill>
                <a:srgbClr val="0070C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="" xmlns:a16="http://schemas.microsoft.com/office/drawing/2014/main" id="{7CFD061B-661D-E3BA-264D-1A173A890CCC}"/>
              </a:ext>
            </a:extLst>
          </p:cNvPr>
          <p:cNvSpPr/>
          <p:nvPr/>
        </p:nvSpPr>
        <p:spPr>
          <a:xfrm>
            <a:off x="3208868" y="1553267"/>
            <a:ext cx="2320850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3 séances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="" xmlns:a16="http://schemas.microsoft.com/office/drawing/2014/main" id="{CFBAA731-A61E-4C08-B09B-DE0FB9A2968B}"/>
              </a:ext>
            </a:extLst>
          </p:cNvPr>
          <p:cNvSpPr txBox="1"/>
          <p:nvPr/>
        </p:nvSpPr>
        <p:spPr>
          <a:xfrm>
            <a:off x="1956220" y="5444133"/>
            <a:ext cx="32647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LMRomanDemi10-Regular"/>
              </a:rPr>
              <a:t>Coupe dans l’image (barycentre / max)</a:t>
            </a:r>
            <a:endParaRPr lang="fr-FR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="" xmlns:a16="http://schemas.microsoft.com/office/drawing/2014/main" id="{D9001F57-1811-7015-CFA5-0DFF30ACBCC4}"/>
              </a:ext>
            </a:extLst>
          </p:cNvPr>
          <p:cNvSpPr txBox="1"/>
          <p:nvPr/>
        </p:nvSpPr>
        <p:spPr>
          <a:xfrm>
            <a:off x="1980341" y="5776403"/>
            <a:ext cx="2521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LMRomanDemi10-Regular"/>
              </a:rPr>
              <a:t>Moyennage</a:t>
            </a:r>
            <a:endParaRPr lang="fr-FR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1" name="ZoneTexte 20">
            <a:extLst>
              <a:ext uri="{FF2B5EF4-FFF2-40B4-BE49-F238E27FC236}">
                <a16:creationId xmlns="" xmlns:a16="http://schemas.microsoft.com/office/drawing/2014/main" id="{DAECE632-8149-DF4E-BE8C-4E848FAF4598}"/>
              </a:ext>
            </a:extLst>
          </p:cNvPr>
          <p:cNvSpPr txBox="1"/>
          <p:nvPr/>
        </p:nvSpPr>
        <p:spPr>
          <a:xfrm>
            <a:off x="1980341" y="6127511"/>
            <a:ext cx="2521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LMRomanDemi10-Regular"/>
              </a:rPr>
              <a:t>Modélisation (fit)</a:t>
            </a:r>
            <a:endParaRPr lang="fr-FR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EED69DC2-F9E1-A6AA-9537-112ECC0916C3}"/>
              </a:ext>
            </a:extLst>
          </p:cNvPr>
          <p:cNvSpPr/>
          <p:nvPr/>
        </p:nvSpPr>
        <p:spPr>
          <a:xfrm>
            <a:off x="8596281" y="6073652"/>
            <a:ext cx="2212848" cy="690599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Illustration du TP de diffraction</a:t>
            </a:r>
          </a:p>
          <a:p>
            <a:pPr algn="ctr"/>
            <a:r>
              <a:rPr lang="fr-FR" sz="1200" dirty="0">
                <a:solidFill>
                  <a:schemeClr val="tx1"/>
                </a:solidFill>
              </a:rPr>
              <a:t>Codes commentés (annexe)</a:t>
            </a:r>
          </a:p>
        </p:txBody>
      </p:sp>
      <p:pic>
        <p:nvPicPr>
          <p:cNvPr id="11" name="Image 10" descr="Une image contenant capture d’écran, Caractère coloré&#10;&#10;Description générée automatiquement">
            <a:extLst>
              <a:ext uri="{FF2B5EF4-FFF2-40B4-BE49-F238E27FC236}">
                <a16:creationId xmlns="" xmlns:a16="http://schemas.microsoft.com/office/drawing/2014/main" id="{3D8DDC86-0761-47DF-C3A5-FE551E011B5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22" y="5198049"/>
            <a:ext cx="1920598" cy="1440448"/>
          </a:xfrm>
          <a:prstGeom prst="rect">
            <a:avLst/>
          </a:prstGeom>
        </p:spPr>
      </p:pic>
      <p:pic>
        <p:nvPicPr>
          <p:cNvPr id="14" name="Image 13" descr="Une image contenant diagramme, Tracé, texte, ligne&#10;&#10;Description générée automatiquement">
            <a:extLst>
              <a:ext uri="{FF2B5EF4-FFF2-40B4-BE49-F238E27FC236}">
                <a16:creationId xmlns="" xmlns:a16="http://schemas.microsoft.com/office/drawing/2014/main" id="{133E8C73-EEC5-3087-1B2F-808F5C6873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771" y="4654340"/>
            <a:ext cx="2918012" cy="2188509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="" xmlns:a16="http://schemas.microsoft.com/office/drawing/2014/main" id="{7108DBA5-F9BA-045A-72D0-EE38A9AFB1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564" y="2895981"/>
            <a:ext cx="4112430" cy="2305370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="" xmlns:a16="http://schemas.microsoft.com/office/drawing/2014/main" id="{740BA44B-4171-3A61-6348-724CA16FCFD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21881" y="2135711"/>
            <a:ext cx="1733792" cy="476316"/>
          </a:xfrm>
          <a:prstGeom prst="rect">
            <a:avLst/>
          </a:prstGeom>
        </p:spPr>
      </p:pic>
      <p:pic>
        <p:nvPicPr>
          <p:cNvPr id="43" name="Image 42">
            <a:extLst>
              <a:ext uri="{FF2B5EF4-FFF2-40B4-BE49-F238E27FC236}">
                <a16:creationId xmlns="" xmlns:a16="http://schemas.microsoft.com/office/drawing/2014/main" id="{6509A60C-CEB9-FA91-51AA-C5F533459EB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78438" y="2867076"/>
            <a:ext cx="691805" cy="290558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="" xmlns:a16="http://schemas.microsoft.com/office/drawing/2014/main" id="{D8BE85BC-4EC6-68AE-673A-DB0EFDBD3520}"/>
              </a:ext>
            </a:extLst>
          </p:cNvPr>
          <p:cNvSpPr/>
          <p:nvPr/>
        </p:nvSpPr>
        <p:spPr>
          <a:xfrm>
            <a:off x="11297413" y="1702590"/>
            <a:ext cx="387096" cy="369332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38" name="Rectangle 37">
            <a:extLst>
              <a:ext uri="{FF2B5EF4-FFF2-40B4-BE49-F238E27FC236}">
                <a16:creationId xmlns="" xmlns:a16="http://schemas.microsoft.com/office/drawing/2014/main" id="{E03280E2-A3F0-03CB-7863-26E43FDFAACD}"/>
              </a:ext>
            </a:extLst>
          </p:cNvPr>
          <p:cNvSpPr/>
          <p:nvPr/>
        </p:nvSpPr>
        <p:spPr>
          <a:xfrm>
            <a:off x="10332720" y="2102563"/>
            <a:ext cx="73119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TP1a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="" xmlns:a16="http://schemas.microsoft.com/office/drawing/2014/main" id="{098DA644-EC8C-61FE-90A2-778EF2B7DF36}"/>
              </a:ext>
            </a:extLst>
          </p:cNvPr>
          <p:cNvSpPr/>
          <p:nvPr/>
        </p:nvSpPr>
        <p:spPr>
          <a:xfrm>
            <a:off x="11297413" y="2102563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1</a:t>
            </a:r>
            <a:endParaRPr lang="fr-FR" sz="1600" dirty="0"/>
          </a:p>
        </p:txBody>
      </p:sp>
      <p:sp>
        <p:nvSpPr>
          <p:cNvPr id="40" name="Rectangle 39">
            <a:extLst>
              <a:ext uri="{FF2B5EF4-FFF2-40B4-BE49-F238E27FC236}">
                <a16:creationId xmlns="" xmlns:a16="http://schemas.microsoft.com/office/drawing/2014/main" id="{021B992C-31E5-6213-5092-4CCBE55F2B39}"/>
              </a:ext>
            </a:extLst>
          </p:cNvPr>
          <p:cNvSpPr/>
          <p:nvPr/>
        </p:nvSpPr>
        <p:spPr>
          <a:xfrm>
            <a:off x="11297413" y="2502536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2</a:t>
            </a:r>
            <a:endParaRPr lang="fr-FR" sz="1600" dirty="0"/>
          </a:p>
        </p:txBody>
      </p:sp>
      <p:sp>
        <p:nvSpPr>
          <p:cNvPr id="41" name="Rectangle 40">
            <a:extLst>
              <a:ext uri="{FF2B5EF4-FFF2-40B4-BE49-F238E27FC236}">
                <a16:creationId xmlns="" xmlns:a16="http://schemas.microsoft.com/office/drawing/2014/main" id="{0D770ED0-474D-9648-552F-CF79EB8C490D}"/>
              </a:ext>
            </a:extLst>
          </p:cNvPr>
          <p:cNvSpPr/>
          <p:nvPr/>
        </p:nvSpPr>
        <p:spPr>
          <a:xfrm>
            <a:off x="11327289" y="4467223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7</a:t>
            </a:r>
            <a:endParaRPr lang="fr-FR" sz="1600" dirty="0"/>
          </a:p>
        </p:txBody>
      </p:sp>
      <p:sp>
        <p:nvSpPr>
          <p:cNvPr id="44" name="Rectangle 43">
            <a:extLst>
              <a:ext uri="{FF2B5EF4-FFF2-40B4-BE49-F238E27FC236}">
                <a16:creationId xmlns="" xmlns:a16="http://schemas.microsoft.com/office/drawing/2014/main" id="{AD6AB33F-119B-3F1B-F6FF-1B69419C6403}"/>
              </a:ext>
            </a:extLst>
          </p:cNvPr>
          <p:cNvSpPr/>
          <p:nvPr/>
        </p:nvSpPr>
        <p:spPr>
          <a:xfrm>
            <a:off x="10332720" y="3244334"/>
            <a:ext cx="761073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TP1b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="" xmlns:a16="http://schemas.microsoft.com/office/drawing/2014/main" id="{FB575922-835C-241C-709B-AB12BD7E173C}"/>
              </a:ext>
            </a:extLst>
          </p:cNvPr>
          <p:cNvSpPr/>
          <p:nvPr/>
        </p:nvSpPr>
        <p:spPr>
          <a:xfrm>
            <a:off x="10332720" y="3644307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TP2a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="" xmlns:a16="http://schemas.microsoft.com/office/drawing/2014/main" id="{86F7F968-D1E2-15AA-9E7A-58F30CD84152}"/>
              </a:ext>
            </a:extLst>
          </p:cNvPr>
          <p:cNvSpPr/>
          <p:nvPr/>
        </p:nvSpPr>
        <p:spPr>
          <a:xfrm>
            <a:off x="10332720" y="4044280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TP2b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="" xmlns:a16="http://schemas.microsoft.com/office/drawing/2014/main" id="{B4740186-9013-1F9D-7EA1-44560C103898}"/>
              </a:ext>
            </a:extLst>
          </p:cNvPr>
          <p:cNvSpPr/>
          <p:nvPr/>
        </p:nvSpPr>
        <p:spPr>
          <a:xfrm>
            <a:off x="11327289" y="3644307"/>
            <a:ext cx="387096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4</a:t>
            </a:r>
            <a:endParaRPr lang="fr-FR" sz="1600" dirty="0"/>
          </a:p>
        </p:txBody>
      </p:sp>
      <p:sp>
        <p:nvSpPr>
          <p:cNvPr id="48" name="Rectangle 47">
            <a:extLst>
              <a:ext uri="{FF2B5EF4-FFF2-40B4-BE49-F238E27FC236}">
                <a16:creationId xmlns="" xmlns:a16="http://schemas.microsoft.com/office/drawing/2014/main" id="{040E83FC-64FA-353E-D05A-9B1F5F5F25C8}"/>
              </a:ext>
            </a:extLst>
          </p:cNvPr>
          <p:cNvSpPr/>
          <p:nvPr/>
        </p:nvSpPr>
        <p:spPr>
          <a:xfrm>
            <a:off x="11327289" y="4044280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6</a:t>
            </a:r>
            <a:endParaRPr lang="fr-FR" sz="1600" dirty="0"/>
          </a:p>
        </p:txBody>
      </p:sp>
      <p:sp>
        <p:nvSpPr>
          <p:cNvPr id="49" name="Rectangle 48">
            <a:extLst>
              <a:ext uri="{FF2B5EF4-FFF2-40B4-BE49-F238E27FC236}">
                <a16:creationId xmlns="" xmlns:a16="http://schemas.microsoft.com/office/drawing/2014/main" id="{5DF7F23C-EF65-9DE8-7387-640B14B54474}"/>
              </a:ext>
            </a:extLst>
          </p:cNvPr>
          <p:cNvSpPr/>
          <p:nvPr/>
        </p:nvSpPr>
        <p:spPr>
          <a:xfrm>
            <a:off x="10332720" y="4479277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TP3a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="" xmlns:a16="http://schemas.microsoft.com/office/drawing/2014/main" id="{D81CF90D-44C0-BB2F-D938-BCC20C548A91}"/>
              </a:ext>
            </a:extLst>
          </p:cNvPr>
          <p:cNvSpPr/>
          <p:nvPr/>
        </p:nvSpPr>
        <p:spPr>
          <a:xfrm>
            <a:off x="10332720" y="5221587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TP3b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="" xmlns:a16="http://schemas.microsoft.com/office/drawing/2014/main" id="{9BED3722-DE00-706C-1FEF-87BE444AB70F}"/>
              </a:ext>
            </a:extLst>
          </p:cNvPr>
          <p:cNvSpPr/>
          <p:nvPr/>
        </p:nvSpPr>
        <p:spPr>
          <a:xfrm>
            <a:off x="11327289" y="5621560"/>
            <a:ext cx="387096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9</a:t>
            </a:r>
            <a:endParaRPr lang="fr-FR" sz="1600" dirty="0"/>
          </a:p>
        </p:txBody>
      </p:sp>
      <p:sp>
        <p:nvSpPr>
          <p:cNvPr id="52" name="Rectangle 51">
            <a:extLst>
              <a:ext uri="{FF2B5EF4-FFF2-40B4-BE49-F238E27FC236}">
                <a16:creationId xmlns="" xmlns:a16="http://schemas.microsoft.com/office/drawing/2014/main" id="{D8DCA5EE-EC8C-762E-F627-A72AA8861359}"/>
              </a:ext>
            </a:extLst>
          </p:cNvPr>
          <p:cNvSpPr/>
          <p:nvPr/>
        </p:nvSpPr>
        <p:spPr>
          <a:xfrm>
            <a:off x="10703028" y="5625691"/>
            <a:ext cx="387096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8</a:t>
            </a:r>
            <a:endParaRPr lang="fr-FR" sz="1600" dirty="0"/>
          </a:p>
        </p:txBody>
      </p:sp>
      <p:sp>
        <p:nvSpPr>
          <p:cNvPr id="64" name="Rectangle 63">
            <a:extLst>
              <a:ext uri="{FF2B5EF4-FFF2-40B4-BE49-F238E27FC236}">
                <a16:creationId xmlns="" xmlns:a16="http://schemas.microsoft.com/office/drawing/2014/main" id="{73BFF83E-CD23-C05E-0C43-DDC2DBC90EAF}"/>
              </a:ext>
            </a:extLst>
          </p:cNvPr>
          <p:cNvSpPr/>
          <p:nvPr/>
        </p:nvSpPr>
        <p:spPr>
          <a:xfrm>
            <a:off x="10130029" y="1485258"/>
            <a:ext cx="1554480" cy="14630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/>
              <a:t>ENTREPRISE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="" xmlns:a16="http://schemas.microsoft.com/office/drawing/2014/main" id="{15CB116D-1016-8888-8DA0-C2E41081E8BF}"/>
              </a:ext>
            </a:extLst>
          </p:cNvPr>
          <p:cNvSpPr/>
          <p:nvPr/>
        </p:nvSpPr>
        <p:spPr>
          <a:xfrm>
            <a:off x="10130029" y="2963188"/>
            <a:ext cx="1554480" cy="14630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/>
              <a:t>ENTREPRISE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="" xmlns:a16="http://schemas.microsoft.com/office/drawing/2014/main" id="{16DF2A7E-C2C5-8E04-1F92-9CF79CBD9578}"/>
              </a:ext>
            </a:extLst>
          </p:cNvPr>
          <p:cNvSpPr/>
          <p:nvPr/>
        </p:nvSpPr>
        <p:spPr>
          <a:xfrm>
            <a:off x="10130029" y="4942242"/>
            <a:ext cx="1554480" cy="14630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/>
              <a:t>ENTREPRISE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="" xmlns:a16="http://schemas.microsoft.com/office/drawing/2014/main" id="{A0EB135E-EF9B-D1F5-E612-5F0F278D99FE}"/>
              </a:ext>
            </a:extLst>
          </p:cNvPr>
          <p:cNvSpPr/>
          <p:nvPr/>
        </p:nvSpPr>
        <p:spPr>
          <a:xfrm>
            <a:off x="11327289" y="3237259"/>
            <a:ext cx="387096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3</a:t>
            </a:r>
            <a:endParaRPr lang="fr-FR" sz="1600" dirty="0"/>
          </a:p>
        </p:txBody>
      </p:sp>
      <p:sp>
        <p:nvSpPr>
          <p:cNvPr id="68" name="Rectangle 67">
            <a:extLst>
              <a:ext uri="{FF2B5EF4-FFF2-40B4-BE49-F238E27FC236}">
                <a16:creationId xmlns="" xmlns:a16="http://schemas.microsoft.com/office/drawing/2014/main" id="{040E83FC-64FA-353E-D05A-9B1F5F5F25C8}"/>
              </a:ext>
            </a:extLst>
          </p:cNvPr>
          <p:cNvSpPr/>
          <p:nvPr/>
        </p:nvSpPr>
        <p:spPr>
          <a:xfrm>
            <a:off x="9808481" y="4044280"/>
            <a:ext cx="387096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/>
              <a:t>5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1717947147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LightSeedRightStep">
      <a:dk1>
        <a:srgbClr val="000000"/>
      </a:dk1>
      <a:lt1>
        <a:srgbClr val="FFFFFF"/>
      </a:lt1>
      <a:dk2>
        <a:srgbClr val="412624"/>
      </a:dk2>
      <a:lt2>
        <a:srgbClr val="E2E8E6"/>
      </a:lt2>
      <a:accent1>
        <a:srgbClr val="C696A7"/>
      </a:accent1>
      <a:accent2>
        <a:srgbClr val="BA827F"/>
      </a:accent2>
      <a:accent3>
        <a:srgbClr val="BC9E83"/>
      </a:accent3>
      <a:accent4>
        <a:srgbClr val="ABA575"/>
      </a:accent4>
      <a:accent5>
        <a:srgbClr val="9CA87F"/>
      </a:accent5>
      <a:accent6>
        <a:srgbClr val="85AD76"/>
      </a:accent6>
      <a:hlink>
        <a:srgbClr val="568F7B"/>
      </a:hlink>
      <a:folHlink>
        <a:srgbClr val="7F7F7F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TM03457452[[fn=Céleste]]</Template>
  <TotalTime>400</TotalTime>
  <Words>257</Words>
  <Application>Microsoft Office PowerPoint</Application>
  <PresentationFormat>Grand écran</PresentationFormat>
  <Paragraphs>128</Paragraphs>
  <Slides>6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Arial</vt:lpstr>
      <vt:lpstr>Avenir Next LT Pro</vt:lpstr>
      <vt:lpstr>Calibri</vt:lpstr>
      <vt:lpstr>Century Gothic</vt:lpstr>
      <vt:lpstr>LMRomanDemi10-Regular</vt:lpstr>
      <vt:lpstr>AccentBoxVTI</vt:lpstr>
      <vt:lpstr>ONIP-2 / FISA  Prog Objet Diffraction Filtrage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ONIP - 2 / CFA</dc:title>
  <dc:creator>Julien VILLEMEJANE</dc:creator>
  <cp:lastModifiedBy>Utilisateur Windows</cp:lastModifiedBy>
  <cp:revision>165</cp:revision>
  <dcterms:created xsi:type="dcterms:W3CDTF">2023-04-08T12:37:13Z</dcterms:created>
  <dcterms:modified xsi:type="dcterms:W3CDTF">2026-02-10T13:13:40Z</dcterms:modified>
</cp:coreProperties>
</file>