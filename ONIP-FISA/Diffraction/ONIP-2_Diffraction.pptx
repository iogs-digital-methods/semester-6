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2"/>
  </p:notesMasterIdLst>
  <p:sldIdLst>
    <p:sldId id="256" r:id="rId2"/>
    <p:sldId id="320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3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FF"/>
    <a:srgbClr val="92D050"/>
    <a:srgbClr val="D6B4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>
        <p:guide orient="horz" pos="2160"/>
        <p:guide pos="33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60532-AC81-4152-B45E-E054A978F780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A4448-0F40-450F-9A3E-C9B9A6927F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998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FDBB9-15CD-9A55-E750-6031775C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F115805-987F-AD18-ADA8-C67FB52CE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6AAD54-593C-6C4C-B908-EB9F95146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E8A475-4C65-2ADD-6229-DDB6DAE42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610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3DEF-6AE8-B975-3D94-E4C5AF58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361CD8D-BA2A-34BF-A492-F15A03BA3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D5467A-CD10-A9BF-0EEF-D6D229340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4AA4A3-C334-3AC4-9B25-488EE3349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547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8E97-68F9-7113-60A8-0BF74D67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3D57521-850F-0086-AC3C-0F79EFCBD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EC86296-5AAB-91C5-335C-542C07FBC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F804B5-2FAE-1FA9-2539-FB376AC13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341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A9A5-99DC-F668-1A4C-71D72EC1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ECA068-55F0-47DA-7D3E-4DBE135FA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7D62F6-A975-A753-4CBB-1CCA9A23A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03495F-B16A-BE64-83A1-FE5C37F25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321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45AD7-5FF3-D08D-A52B-6BEA8475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8EBEDD-5C77-05C7-A8AB-24003E625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535F029-2D46-DFD6-859F-038F8F4EF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C35FD0-56F1-9A2F-8290-59793501F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8663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20EB5-2A2E-8BF5-C68C-3CE57C6D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F1E8E8-17AC-8AF8-E263-031D67834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5BCC61-A2B5-63FC-A12F-4133A7D69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EF8F8B-5A6C-C83F-5E6E-F70ABF25B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928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6988-1831-FB24-EE08-2A755811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11BFA25-7016-7661-8BD1-13113068D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EFC357-A8BC-2FBA-3D03-3297CAF2C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C5E4B2-E399-AF7B-ED47-94E7313EE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372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BB41C-373E-5255-3972-FAEACA7F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CDED740-B520-29F4-F7EE-B8BC40631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276FF03-5DAF-C88A-5830-29F5B1ECF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B03471-6C0B-F555-E717-E6B9F9AA9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672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7110-3B5B-CD16-ACC6-C3E22BA5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8B829A-4062-9928-B32D-112698E4C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78465F-8AB9-6F74-203E-0D571040D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8B6F74-E31D-D7C1-659B-5DD3EBF65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523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83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0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9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5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6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9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8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2F330-992B-B125-739B-F8303ED3A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8D1EB8-F6E7-EB54-1CC8-28472070B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fr-FR" sz="4000" dirty="0"/>
              <a:t>ONIP-2 / FISA</a:t>
            </a:r>
            <a:br>
              <a:rPr lang="fr-FR" sz="4000" dirty="0"/>
            </a:br>
            <a:br>
              <a:rPr lang="fr-FR" sz="4000" dirty="0"/>
            </a:br>
            <a:br>
              <a:rPr lang="fr-FR" sz="4000" dirty="0"/>
            </a:br>
            <a:r>
              <a:rPr lang="fr-FR" sz="4000" dirty="0"/>
              <a:t>Diffraction</a:t>
            </a:r>
            <a:br>
              <a:rPr lang="fr-FR" sz="4000" dirty="0"/>
            </a:br>
            <a:endParaRPr lang="fr-FR" sz="4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FEFAEF-AB6A-BE8F-01E7-845FB609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/>
              <a:t>Outils Numériques / Semestre 6 / Institut d’Optique / ONIP-2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37BA79-FF20-6017-2C77-6E961189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3" y="195172"/>
            <a:ext cx="2452178" cy="100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2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5DEA2-6250-6A02-DC18-B2689B869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753-DD00-7FF7-5A28-AF44C19141A2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074150E-74C9-0933-2894-BCE82D2563D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ONIP-2 / </a:t>
            </a:r>
            <a:r>
              <a:rPr lang="fr-FR" sz="2400" dirty="0"/>
              <a:t>Déroulement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E82EF4-6E9E-9498-BB05-22BE57675BFC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2FBA3EC0-160B-2722-D278-A9B69E9246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6" name="Image 5" descr="Une image contenant texte, capture d’écran, diagramme, cercle&#10;&#10;Description générée automatiquement">
            <a:extLst>
              <a:ext uri="{FF2B5EF4-FFF2-40B4-BE49-F238E27FC236}">
                <a16:creationId xmlns:a16="http://schemas.microsoft.com/office/drawing/2014/main" id="{4F6758FB-F39B-D731-11C2-3D77E4E0F1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1523607"/>
            <a:ext cx="2540524" cy="190539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FCFD44B-E758-B0A5-1359-8D5DEB4CE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62" y="3588547"/>
            <a:ext cx="2320850" cy="1745846"/>
          </a:xfrm>
          <a:prstGeom prst="rect">
            <a:avLst/>
          </a:prstGeom>
        </p:spPr>
      </p:pic>
      <p:pic>
        <p:nvPicPr>
          <p:cNvPr id="12" name="Image 11" descr="Une image contenant objet astronomique, obscurité, noir, Événement céleste&#10;&#10;Description générée automatiquement">
            <a:extLst>
              <a:ext uri="{FF2B5EF4-FFF2-40B4-BE49-F238E27FC236}">
                <a16:creationId xmlns:a16="http://schemas.microsoft.com/office/drawing/2014/main" id="{E2DB7374-39F9-5DBE-1E6E-B1F21BB3F2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463" y="3588547"/>
            <a:ext cx="954786" cy="763829"/>
          </a:xfrm>
          <a:prstGeom prst="rect">
            <a:avLst/>
          </a:prstGeom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2FAE40F2-0A1E-5C46-E8D4-F1B6572F0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25" y="5493940"/>
            <a:ext cx="1928598" cy="132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FF35711-3A82-D001-2D6F-C7D2682E035D}"/>
              </a:ext>
            </a:extLst>
          </p:cNvPr>
          <p:cNvSpPr txBox="1"/>
          <p:nvPr/>
        </p:nvSpPr>
        <p:spPr>
          <a:xfrm>
            <a:off x="3620079" y="3445161"/>
            <a:ext cx="1936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b="1" dirty="0"/>
              <a:t>3 séquences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1867DA-C259-6780-3D39-CBB4D8A931FD}"/>
              </a:ext>
            </a:extLst>
          </p:cNvPr>
          <p:cNvSpPr/>
          <p:nvPr/>
        </p:nvSpPr>
        <p:spPr>
          <a:xfrm>
            <a:off x="3620079" y="1631562"/>
            <a:ext cx="2670992" cy="2573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TP1 - Diffraction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79CBC9-0C6F-91CE-69EC-B5A8C175A745}"/>
              </a:ext>
            </a:extLst>
          </p:cNvPr>
          <p:cNvSpPr/>
          <p:nvPr/>
        </p:nvSpPr>
        <p:spPr>
          <a:xfrm>
            <a:off x="3620078" y="1943269"/>
            <a:ext cx="2670993" cy="25730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TP2/3 – Filtrage </a:t>
            </a:r>
            <a:r>
              <a:rPr lang="fr-FR" sz="1400" b="1" dirty="0" err="1">
                <a:solidFill>
                  <a:schemeClr val="tx1"/>
                </a:solidFill>
              </a:rPr>
              <a:t>Détramage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3493EC3-3ED3-AC71-68C6-6E3C8A4F5004}"/>
              </a:ext>
            </a:extLst>
          </p:cNvPr>
          <p:cNvSpPr/>
          <p:nvPr/>
        </p:nvSpPr>
        <p:spPr>
          <a:xfrm>
            <a:off x="3620079" y="3970461"/>
            <a:ext cx="2320850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Programmation Objet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64B6199-89B5-2EE0-51F1-6C921DBCBC9E}"/>
              </a:ext>
            </a:extLst>
          </p:cNvPr>
          <p:cNvSpPr/>
          <p:nvPr/>
        </p:nvSpPr>
        <p:spPr>
          <a:xfrm>
            <a:off x="3620079" y="4613410"/>
            <a:ext cx="2320850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Filtrage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0EFC03-3AF4-1F55-F5EF-A0828D36E150}"/>
              </a:ext>
            </a:extLst>
          </p:cNvPr>
          <p:cNvSpPr/>
          <p:nvPr/>
        </p:nvSpPr>
        <p:spPr>
          <a:xfrm>
            <a:off x="3620079" y="5256359"/>
            <a:ext cx="232085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Diffraction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AA351-18A7-B83B-7041-A82D42F73079}"/>
              </a:ext>
            </a:extLst>
          </p:cNvPr>
          <p:cNvSpPr/>
          <p:nvPr/>
        </p:nvSpPr>
        <p:spPr>
          <a:xfrm>
            <a:off x="11297413" y="1702590"/>
            <a:ext cx="387096" cy="36933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98651-33DD-D781-0428-D50CB2808F70}"/>
              </a:ext>
            </a:extLst>
          </p:cNvPr>
          <p:cNvSpPr/>
          <p:nvPr/>
        </p:nvSpPr>
        <p:spPr>
          <a:xfrm>
            <a:off x="10332720" y="2102563"/>
            <a:ext cx="73119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TP1a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6005BB-79F2-8181-0346-B60B1C0C4F3F}"/>
              </a:ext>
            </a:extLst>
          </p:cNvPr>
          <p:cNvSpPr/>
          <p:nvPr/>
        </p:nvSpPr>
        <p:spPr>
          <a:xfrm>
            <a:off x="11297413" y="2102563"/>
            <a:ext cx="3870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5164A4-12D0-C2AC-17C4-CF7011E345DC}"/>
              </a:ext>
            </a:extLst>
          </p:cNvPr>
          <p:cNvSpPr/>
          <p:nvPr/>
        </p:nvSpPr>
        <p:spPr>
          <a:xfrm>
            <a:off x="11297413" y="2502536"/>
            <a:ext cx="3870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AD914B-9306-3133-B0DE-0A3C574A3732}"/>
              </a:ext>
            </a:extLst>
          </p:cNvPr>
          <p:cNvSpPr/>
          <p:nvPr/>
        </p:nvSpPr>
        <p:spPr>
          <a:xfrm>
            <a:off x="11327289" y="4467223"/>
            <a:ext cx="3870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3DB62A-ED54-4D41-38E2-3B897B54C48E}"/>
              </a:ext>
            </a:extLst>
          </p:cNvPr>
          <p:cNvSpPr/>
          <p:nvPr/>
        </p:nvSpPr>
        <p:spPr>
          <a:xfrm>
            <a:off x="10332720" y="3244334"/>
            <a:ext cx="7610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TP1b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2E1E6E-2D5C-12BC-314F-21674F8BD09D}"/>
              </a:ext>
            </a:extLst>
          </p:cNvPr>
          <p:cNvSpPr/>
          <p:nvPr/>
        </p:nvSpPr>
        <p:spPr>
          <a:xfrm>
            <a:off x="10332720" y="3644307"/>
            <a:ext cx="761073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TP2a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237102-B9E1-D4DB-1252-8AAA0CF1802E}"/>
              </a:ext>
            </a:extLst>
          </p:cNvPr>
          <p:cNvSpPr/>
          <p:nvPr/>
        </p:nvSpPr>
        <p:spPr>
          <a:xfrm>
            <a:off x="10332720" y="4044280"/>
            <a:ext cx="761073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TP2b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548AAD-C2CC-D6E1-753B-3525FCC0672E}"/>
              </a:ext>
            </a:extLst>
          </p:cNvPr>
          <p:cNvSpPr/>
          <p:nvPr/>
        </p:nvSpPr>
        <p:spPr>
          <a:xfrm>
            <a:off x="11327289" y="3644307"/>
            <a:ext cx="387096" cy="369332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A9FFFB-49E9-1BCD-7E86-D28418633266}"/>
              </a:ext>
            </a:extLst>
          </p:cNvPr>
          <p:cNvSpPr/>
          <p:nvPr/>
        </p:nvSpPr>
        <p:spPr>
          <a:xfrm>
            <a:off x="11327289" y="4044280"/>
            <a:ext cx="3870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7D2E84-577A-1BB4-A24F-384ED6516FBA}"/>
              </a:ext>
            </a:extLst>
          </p:cNvPr>
          <p:cNvSpPr/>
          <p:nvPr/>
        </p:nvSpPr>
        <p:spPr>
          <a:xfrm>
            <a:off x="10332720" y="4479277"/>
            <a:ext cx="761073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TP3a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BEFCD1-3AA7-C2AC-E479-7DDAD58519B1}"/>
              </a:ext>
            </a:extLst>
          </p:cNvPr>
          <p:cNvSpPr/>
          <p:nvPr/>
        </p:nvSpPr>
        <p:spPr>
          <a:xfrm>
            <a:off x="10332720" y="5221587"/>
            <a:ext cx="761073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TP3b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B4D186-71AA-2D29-CE68-AE8CAA1385D2}"/>
              </a:ext>
            </a:extLst>
          </p:cNvPr>
          <p:cNvSpPr/>
          <p:nvPr/>
        </p:nvSpPr>
        <p:spPr>
          <a:xfrm>
            <a:off x="11327289" y="5621560"/>
            <a:ext cx="387096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268ABE-E735-781D-3C02-4BD698DCC403}"/>
              </a:ext>
            </a:extLst>
          </p:cNvPr>
          <p:cNvSpPr/>
          <p:nvPr/>
        </p:nvSpPr>
        <p:spPr>
          <a:xfrm>
            <a:off x="10703028" y="5625691"/>
            <a:ext cx="387096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ED59A1-AF9B-7E32-4A3E-13E59A95E23D}"/>
              </a:ext>
            </a:extLst>
          </p:cNvPr>
          <p:cNvSpPr/>
          <p:nvPr/>
        </p:nvSpPr>
        <p:spPr>
          <a:xfrm>
            <a:off x="10130029" y="1485258"/>
            <a:ext cx="1554480" cy="14630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ENTREPRISE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0F4AC2-6580-7945-EEC2-0760313470F8}"/>
              </a:ext>
            </a:extLst>
          </p:cNvPr>
          <p:cNvSpPr/>
          <p:nvPr/>
        </p:nvSpPr>
        <p:spPr>
          <a:xfrm>
            <a:off x="10130029" y="2963188"/>
            <a:ext cx="1554480" cy="14630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ENTREPRISE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A0ABAC-075B-BED0-9F51-21EE7B73F24A}"/>
              </a:ext>
            </a:extLst>
          </p:cNvPr>
          <p:cNvSpPr/>
          <p:nvPr/>
        </p:nvSpPr>
        <p:spPr>
          <a:xfrm>
            <a:off x="10130029" y="4942242"/>
            <a:ext cx="1554480" cy="14630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ENTREPRISE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FC1885-2A78-3157-033D-D8D6E9D5A589}"/>
              </a:ext>
            </a:extLst>
          </p:cNvPr>
          <p:cNvSpPr/>
          <p:nvPr/>
        </p:nvSpPr>
        <p:spPr>
          <a:xfrm>
            <a:off x="11327289" y="3237259"/>
            <a:ext cx="387096" cy="369332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A1BA65-5607-4120-10FA-1779330835A2}"/>
              </a:ext>
            </a:extLst>
          </p:cNvPr>
          <p:cNvSpPr/>
          <p:nvPr/>
        </p:nvSpPr>
        <p:spPr>
          <a:xfrm>
            <a:off x="9808481" y="4044280"/>
            <a:ext cx="387096" cy="369332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23342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93255-D3A1-E9EE-75F7-8CF981A3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 descr="Une image contenant Caractère coloré, capture d’écran, cercle&#10;&#10;Description générée automatiquement">
            <a:extLst>
              <a:ext uri="{FF2B5EF4-FFF2-40B4-BE49-F238E27FC236}">
                <a16:creationId xmlns:a16="http://schemas.microsoft.com/office/drawing/2014/main" id="{8A23C983-CBA0-7A26-69A1-FA18BFCE8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58" y="2373869"/>
            <a:ext cx="3318612" cy="24889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BE0EC6-6A12-2CB4-7DD8-89ED894F2FD5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D4DA90-1A67-8BAB-2941-7382D814332A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ONIP-2 / </a:t>
            </a:r>
            <a:r>
              <a:rPr lang="fr-FR" sz="2400" dirty="0"/>
              <a:t>Diffraction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547985-68A5-A169-8C99-8AF0E138E86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9DE2E9F7-41F0-0DAE-0C56-14406819A1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2F39415-3E21-0455-CB07-DAB7BDD797FA}"/>
              </a:ext>
            </a:extLst>
          </p:cNvPr>
          <p:cNvSpPr/>
          <p:nvPr/>
        </p:nvSpPr>
        <p:spPr>
          <a:xfrm>
            <a:off x="681196" y="1553267"/>
            <a:ext cx="2320850" cy="369332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Diffraction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A4F39768-9C57-9BEB-2B05-879774034514}"/>
              </a:ext>
            </a:extLst>
          </p:cNvPr>
          <p:cNvSpPr txBox="1">
            <a:spLocks/>
          </p:cNvSpPr>
          <p:nvPr/>
        </p:nvSpPr>
        <p:spPr>
          <a:xfrm>
            <a:off x="619125" y="2095937"/>
            <a:ext cx="6919854" cy="4336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b="1" dirty="0">
                <a:solidFill>
                  <a:srgbClr val="0070C0"/>
                </a:solidFill>
              </a:rPr>
              <a:t>Analyse des images de diffraction</a:t>
            </a:r>
            <a:endParaRPr lang="fr-FR" sz="2000" dirty="0">
              <a:solidFill>
                <a:srgbClr val="0070C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FD061B-661D-E3BA-264D-1A173A890CCC}"/>
              </a:ext>
            </a:extLst>
          </p:cNvPr>
          <p:cNvSpPr/>
          <p:nvPr/>
        </p:nvSpPr>
        <p:spPr>
          <a:xfrm>
            <a:off x="3208868" y="1553267"/>
            <a:ext cx="2320850" cy="369332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3 séances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FBAA731-A61E-4C08-B09B-DE0FB9A2968B}"/>
              </a:ext>
            </a:extLst>
          </p:cNvPr>
          <p:cNvSpPr txBox="1"/>
          <p:nvPr/>
        </p:nvSpPr>
        <p:spPr>
          <a:xfrm>
            <a:off x="1956220" y="5444133"/>
            <a:ext cx="3264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MRomanDemi10-Regular"/>
              </a:rPr>
              <a:t>Coupe dans l’image (barycentre / max)</a:t>
            </a:r>
            <a:endParaRPr lang="fr-F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9001F57-1811-7015-CFA5-0DFF30ACBCC4}"/>
              </a:ext>
            </a:extLst>
          </p:cNvPr>
          <p:cNvSpPr txBox="1"/>
          <p:nvPr/>
        </p:nvSpPr>
        <p:spPr>
          <a:xfrm>
            <a:off x="1980341" y="5776403"/>
            <a:ext cx="2521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MRomanDemi10-Regular"/>
              </a:rPr>
              <a:t>Moyennage</a:t>
            </a:r>
            <a:endParaRPr lang="fr-F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AECE632-8149-DF4E-BE8C-4E848FAF4598}"/>
              </a:ext>
            </a:extLst>
          </p:cNvPr>
          <p:cNvSpPr txBox="1"/>
          <p:nvPr/>
        </p:nvSpPr>
        <p:spPr>
          <a:xfrm>
            <a:off x="1980341" y="6127511"/>
            <a:ext cx="2521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MRomanDemi10-Regular"/>
              </a:rPr>
              <a:t>Modélisation (fit)</a:t>
            </a:r>
            <a:endParaRPr lang="fr-F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Image 10" descr="Une image contenant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3D8DDC86-0761-47DF-C3A5-FE551E011B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2" y="5198049"/>
            <a:ext cx="1920598" cy="1440448"/>
          </a:xfrm>
          <a:prstGeom prst="rect">
            <a:avLst/>
          </a:prstGeom>
        </p:spPr>
      </p:pic>
      <p:pic>
        <p:nvPicPr>
          <p:cNvPr id="14" name="Image 13" descr="Une image contenant diagramme, Tracé, texte, ligne&#10;&#10;Description générée automatiquement">
            <a:extLst>
              <a:ext uri="{FF2B5EF4-FFF2-40B4-BE49-F238E27FC236}">
                <a16:creationId xmlns:a16="http://schemas.microsoft.com/office/drawing/2014/main" id="{133E8C73-EEC5-3087-1B2F-808F5C6873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771" y="4654340"/>
            <a:ext cx="2918012" cy="218850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108DBA5-F9BA-045A-72D0-EE38A9AFB1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64" y="2895981"/>
            <a:ext cx="4112430" cy="230537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740BA44B-4171-3A61-6348-724CA16FCF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1881" y="2135711"/>
            <a:ext cx="1733792" cy="476316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6509A60C-CEB9-FA91-51AA-C5F533459E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8438" y="2867076"/>
            <a:ext cx="691805" cy="29055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D934A95-0ED0-3ACC-941C-378D132778DC}"/>
              </a:ext>
            </a:extLst>
          </p:cNvPr>
          <p:cNvSpPr/>
          <p:nvPr/>
        </p:nvSpPr>
        <p:spPr>
          <a:xfrm>
            <a:off x="7947783" y="6074274"/>
            <a:ext cx="2403335" cy="690599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CR de TP</a:t>
            </a:r>
          </a:p>
          <a:p>
            <a:pPr algn="ctr"/>
            <a:r>
              <a:rPr lang="fr-FR" sz="1600" dirty="0">
                <a:solidFill>
                  <a:schemeClr val="tx1"/>
                </a:solidFill>
              </a:rPr>
              <a:t>Vendredi 16 avril 2026</a:t>
            </a:r>
          </a:p>
          <a:p>
            <a:pPr algn="ctr"/>
            <a:r>
              <a:rPr lang="fr-FR" sz="1200" dirty="0" err="1">
                <a:solidFill>
                  <a:schemeClr val="tx1"/>
                </a:solidFill>
              </a:rPr>
              <a:t>eCampus</a:t>
            </a:r>
            <a:r>
              <a:rPr lang="fr-FR" sz="1200" dirty="0">
                <a:solidFill>
                  <a:schemeClr val="tx1"/>
                </a:solidFill>
              </a:rPr>
              <a:t> (21h)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94511E-D83E-A088-E21E-197D66C16D37}"/>
              </a:ext>
            </a:extLst>
          </p:cNvPr>
          <p:cNvSpPr/>
          <p:nvPr/>
        </p:nvSpPr>
        <p:spPr>
          <a:xfrm>
            <a:off x="10460737" y="6074274"/>
            <a:ext cx="1695641" cy="690599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</a:rPr>
              <a:t>CR</a:t>
            </a:r>
            <a:r>
              <a:rPr lang="fr-FR" sz="1200" dirty="0">
                <a:solidFill>
                  <a:schemeClr val="tx1"/>
                </a:solidFill>
              </a:rPr>
              <a:t> -&gt; PDF</a:t>
            </a:r>
          </a:p>
          <a:p>
            <a:r>
              <a:rPr lang="fr-FR" sz="1200" b="1" dirty="0" err="1">
                <a:solidFill>
                  <a:schemeClr val="tx1"/>
                </a:solidFill>
              </a:rPr>
              <a:t>Code</a:t>
            </a:r>
            <a:r>
              <a:rPr lang="fr-FR" sz="1200" dirty="0" err="1">
                <a:solidFill>
                  <a:schemeClr val="tx1"/>
                </a:solidFill>
              </a:rPr>
              <a:t>+Images</a:t>
            </a:r>
            <a:r>
              <a:rPr lang="fr-FR" sz="1200" dirty="0">
                <a:solidFill>
                  <a:schemeClr val="tx1"/>
                </a:solidFill>
              </a:rPr>
              <a:t> -&gt; ZIP</a:t>
            </a:r>
            <a:endParaRPr lang="fr-FR" sz="105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67731-9AE2-C1BF-43F7-54B8404224A5}"/>
              </a:ext>
            </a:extLst>
          </p:cNvPr>
          <p:cNvSpPr/>
          <p:nvPr/>
        </p:nvSpPr>
        <p:spPr>
          <a:xfrm>
            <a:off x="11297413" y="1702590"/>
            <a:ext cx="387096" cy="36933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11DFBB-6724-C675-153C-5FB652481A65}"/>
              </a:ext>
            </a:extLst>
          </p:cNvPr>
          <p:cNvSpPr/>
          <p:nvPr/>
        </p:nvSpPr>
        <p:spPr>
          <a:xfrm>
            <a:off x="10332720" y="2102563"/>
            <a:ext cx="73119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TP1a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4DA0AF-E006-AFC8-D307-9C1C7107AEB3}"/>
              </a:ext>
            </a:extLst>
          </p:cNvPr>
          <p:cNvSpPr/>
          <p:nvPr/>
        </p:nvSpPr>
        <p:spPr>
          <a:xfrm>
            <a:off x="11297413" y="2102563"/>
            <a:ext cx="3870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C61CE-4C7D-2DE2-F505-B07B5E173D17}"/>
              </a:ext>
            </a:extLst>
          </p:cNvPr>
          <p:cNvSpPr/>
          <p:nvPr/>
        </p:nvSpPr>
        <p:spPr>
          <a:xfrm>
            <a:off x="11297413" y="2502536"/>
            <a:ext cx="3870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7AC04D-8550-5241-4310-DD295DC39AC3}"/>
              </a:ext>
            </a:extLst>
          </p:cNvPr>
          <p:cNvSpPr/>
          <p:nvPr/>
        </p:nvSpPr>
        <p:spPr>
          <a:xfrm>
            <a:off x="11327289" y="4467223"/>
            <a:ext cx="3870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7C3B31-F200-F66D-F986-CA2C9A08831E}"/>
              </a:ext>
            </a:extLst>
          </p:cNvPr>
          <p:cNvSpPr/>
          <p:nvPr/>
        </p:nvSpPr>
        <p:spPr>
          <a:xfrm>
            <a:off x="10332720" y="3244334"/>
            <a:ext cx="7610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TP1b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A8838-8FBE-EFCE-304F-5D4F75CA14F1}"/>
              </a:ext>
            </a:extLst>
          </p:cNvPr>
          <p:cNvSpPr/>
          <p:nvPr/>
        </p:nvSpPr>
        <p:spPr>
          <a:xfrm>
            <a:off x="10332720" y="3644307"/>
            <a:ext cx="761073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TP2a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26162A-E646-92A4-129C-FE9087134BC1}"/>
              </a:ext>
            </a:extLst>
          </p:cNvPr>
          <p:cNvSpPr/>
          <p:nvPr/>
        </p:nvSpPr>
        <p:spPr>
          <a:xfrm>
            <a:off x="10332720" y="4044280"/>
            <a:ext cx="761073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TP2b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FEA372-B31D-0F6D-BE59-31FFF5969B31}"/>
              </a:ext>
            </a:extLst>
          </p:cNvPr>
          <p:cNvSpPr/>
          <p:nvPr/>
        </p:nvSpPr>
        <p:spPr>
          <a:xfrm>
            <a:off x="11327289" y="3644307"/>
            <a:ext cx="387096" cy="369332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CBB342-6F8F-6FB8-34CE-DD867A450C00}"/>
              </a:ext>
            </a:extLst>
          </p:cNvPr>
          <p:cNvSpPr/>
          <p:nvPr/>
        </p:nvSpPr>
        <p:spPr>
          <a:xfrm>
            <a:off x="11327289" y="4044280"/>
            <a:ext cx="3870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A31E77-575C-977E-8C05-4A8D9FF69F6B}"/>
              </a:ext>
            </a:extLst>
          </p:cNvPr>
          <p:cNvSpPr/>
          <p:nvPr/>
        </p:nvSpPr>
        <p:spPr>
          <a:xfrm>
            <a:off x="10332720" y="4479277"/>
            <a:ext cx="761073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TP3a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3592892-FC87-68DE-DA61-2F80F2A1BE1F}"/>
              </a:ext>
            </a:extLst>
          </p:cNvPr>
          <p:cNvSpPr/>
          <p:nvPr/>
        </p:nvSpPr>
        <p:spPr>
          <a:xfrm>
            <a:off x="10332720" y="5221587"/>
            <a:ext cx="761073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TP3b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C7AB35-FF62-0C6C-8B2B-391F043B5CB1}"/>
              </a:ext>
            </a:extLst>
          </p:cNvPr>
          <p:cNvSpPr/>
          <p:nvPr/>
        </p:nvSpPr>
        <p:spPr>
          <a:xfrm>
            <a:off x="11327289" y="5621560"/>
            <a:ext cx="387096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9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6AC966-1C25-08B4-CA31-38D23DB337DA}"/>
              </a:ext>
            </a:extLst>
          </p:cNvPr>
          <p:cNvSpPr/>
          <p:nvPr/>
        </p:nvSpPr>
        <p:spPr>
          <a:xfrm>
            <a:off x="10703028" y="5625691"/>
            <a:ext cx="387096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8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C830FB-E1E4-CBAB-20B5-442E77785C89}"/>
              </a:ext>
            </a:extLst>
          </p:cNvPr>
          <p:cNvSpPr/>
          <p:nvPr/>
        </p:nvSpPr>
        <p:spPr>
          <a:xfrm>
            <a:off x="10130029" y="1485258"/>
            <a:ext cx="1554480" cy="14630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ENTREPRISE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B7904A-EBBE-7CBD-7416-10E5AD9A0489}"/>
              </a:ext>
            </a:extLst>
          </p:cNvPr>
          <p:cNvSpPr/>
          <p:nvPr/>
        </p:nvSpPr>
        <p:spPr>
          <a:xfrm>
            <a:off x="10130029" y="2963188"/>
            <a:ext cx="1554480" cy="14630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ENTREPRISE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B4E8666-5DB7-7219-088E-919850399CA6}"/>
              </a:ext>
            </a:extLst>
          </p:cNvPr>
          <p:cNvSpPr/>
          <p:nvPr/>
        </p:nvSpPr>
        <p:spPr>
          <a:xfrm>
            <a:off x="10130029" y="4942242"/>
            <a:ext cx="1554480" cy="14630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ENTREPRISE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BBF68D-F606-138F-4F59-F13C61B43F33}"/>
              </a:ext>
            </a:extLst>
          </p:cNvPr>
          <p:cNvSpPr/>
          <p:nvPr/>
        </p:nvSpPr>
        <p:spPr>
          <a:xfrm>
            <a:off x="11327289" y="3237259"/>
            <a:ext cx="387096" cy="369332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E0C44B-0525-AF1C-539C-D659788E5D81}"/>
              </a:ext>
            </a:extLst>
          </p:cNvPr>
          <p:cNvSpPr/>
          <p:nvPr/>
        </p:nvSpPr>
        <p:spPr>
          <a:xfrm>
            <a:off x="9808481" y="4044280"/>
            <a:ext cx="387096" cy="369332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17947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5435B-0A9C-BCEF-3EEC-FA139B95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F03A33-1978-C208-0FE5-529D4273A420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330B00-6AF9-ECED-F452-879815F31094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Diffraction / </a:t>
            </a:r>
            <a:r>
              <a:rPr lang="fr-FR" sz="2400" dirty="0"/>
              <a:t>Rappels et TP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EE1A30-399A-75B7-5EF0-90FDCC4DFE11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E2DC71DD-E84B-3C9B-98B5-12EB29271F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E8ACADD-DCD4-052F-3C6A-3FBFE6D76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01" y="1845299"/>
            <a:ext cx="6392602" cy="429432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8EB014A-92CC-F5DF-6C06-5F5601015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1666" y="2624327"/>
            <a:ext cx="2052866" cy="221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0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6B75A-4AC5-44AA-AAE1-AE93EBC4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5BE963-AAC8-FB54-23FD-F1A6A60579C1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34B7D-24C9-E8A9-4023-A077F9F2F6B2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Diffraction / </a:t>
            </a:r>
            <a:r>
              <a:rPr lang="fr-FR" sz="2400" dirty="0"/>
              <a:t>Rappels et TP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0643A-E5C8-5EF7-B3E5-2D9078A33217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DC4BB2EF-F0A4-6FA6-225D-FC7109433C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326AE772-C4B1-8434-01FD-160333805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520914"/>
            <a:ext cx="8895504" cy="512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0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0BEF-7E22-DF7E-C511-A89C884A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22D527F-F7B5-2D37-6B32-46C2D0D971A1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673262-178B-8327-0940-1025EF045A9F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Diffraction / </a:t>
            </a:r>
            <a:r>
              <a:rPr lang="fr-FR" sz="2400" dirty="0"/>
              <a:t>Objectif en ONIP-2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9BEB6-AB69-84F8-F9AA-1B6F222ABBCE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2FDF997-F39A-E68B-B94B-8C251D52A5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A86457B-FEBF-CFEB-9B0E-4F3DBDE85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01" y="1645250"/>
            <a:ext cx="5258534" cy="413442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ECC24F1-BC54-EF22-489C-F68BBC6BB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147" y="1902461"/>
            <a:ext cx="5191850" cy="38772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3761CF6-3DA6-3179-796F-0251CA2961E1}"/>
              </a:ext>
            </a:extLst>
          </p:cNvPr>
          <p:cNvSpPr/>
          <p:nvPr/>
        </p:nvSpPr>
        <p:spPr>
          <a:xfrm>
            <a:off x="743266" y="6154810"/>
            <a:ext cx="1089050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Vérifier la loi entre </a:t>
            </a:r>
            <a:r>
              <a:rPr lang="fr-FR" sz="1600" b="1" dirty="0">
                <a:solidFill>
                  <a:schemeClr val="tx1"/>
                </a:solidFill>
              </a:rPr>
              <a:t>taille de l’objet diffractant </a:t>
            </a:r>
            <a:r>
              <a:rPr lang="fr-FR" sz="1600" dirty="0">
                <a:solidFill>
                  <a:schemeClr val="tx1"/>
                </a:solidFill>
              </a:rPr>
              <a:t>et </a:t>
            </a:r>
            <a:r>
              <a:rPr lang="fr-FR" sz="1600" b="1" dirty="0">
                <a:solidFill>
                  <a:schemeClr val="tx1"/>
                </a:solidFill>
              </a:rPr>
              <a:t>taille de la figure de diffraction </a:t>
            </a:r>
          </a:p>
        </p:txBody>
      </p:sp>
    </p:spTree>
    <p:extLst>
      <p:ext uri="{BB962C8B-B14F-4D97-AF65-F5344CB8AC3E}">
        <p14:creationId xmlns:p14="http://schemas.microsoft.com/office/powerpoint/2010/main" val="243902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54157-97A7-A800-BAA1-3C2A7079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6817D5-5C6E-9F15-E38E-BE596AD75037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36768F-4E22-3A50-F6FD-1FFA1093ECC9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Diffraction / </a:t>
            </a:r>
            <a:r>
              <a:rPr lang="fr-FR" sz="2400" dirty="0"/>
              <a:t>Objectif en ONIP-2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4335A-F061-AACE-6786-72B1FFC94937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E449FF04-CFE7-D2F2-1464-924745F33F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AF99361-45CE-45F2-1603-DB801EE0D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44" y="1687736"/>
            <a:ext cx="5058481" cy="406774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587CC7B-3C42-A251-7001-23055FEFA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147" y="1902461"/>
            <a:ext cx="5191850" cy="387721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1D3DE69-05B0-A0A0-7BCA-869106C576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763" y="5940799"/>
            <a:ext cx="784513" cy="66767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F6DD763-E353-4D2C-0599-E5100AD1621E}"/>
              </a:ext>
            </a:extLst>
          </p:cNvPr>
          <p:cNvSpPr txBox="1"/>
          <p:nvPr/>
        </p:nvSpPr>
        <p:spPr>
          <a:xfrm>
            <a:off x="4626650" y="1604170"/>
            <a:ext cx="777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LMRomanDemi10-Regular"/>
              </a:rPr>
              <a:t>LOG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168A59B-A14F-F9EF-A729-BB7308866A21}"/>
              </a:ext>
            </a:extLst>
          </p:cNvPr>
          <p:cNvSpPr txBox="1"/>
          <p:nvPr/>
        </p:nvSpPr>
        <p:spPr>
          <a:xfrm>
            <a:off x="2026706" y="5960009"/>
            <a:ext cx="5123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LMRomanDemi10-Regular"/>
              </a:rPr>
              <a:t>Recherche du maximum </a:t>
            </a:r>
          </a:p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LMRomanDemi10-Regular"/>
              </a:rPr>
              <a:t>Utilisation du barycentre « risquée »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933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F3513-B05F-612D-B533-3BEEB2AB7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CED119-1499-F5E6-8DD7-61706AAA579D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6F233A-FF6B-5CD5-F727-5E69F76EF294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Diffraction / </a:t>
            </a:r>
            <a:r>
              <a:rPr lang="fr-FR" sz="2400" dirty="0"/>
              <a:t>Algorithme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6A9A02-7232-6210-837D-CC677F28EFDC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D0E163F3-0898-1F69-1FDB-6A833F4592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49A2EF-16CF-3360-0942-3C237178E274}"/>
              </a:ext>
            </a:extLst>
          </p:cNvPr>
          <p:cNvSpPr/>
          <p:nvPr/>
        </p:nvSpPr>
        <p:spPr>
          <a:xfrm>
            <a:off x="1474152" y="2379370"/>
            <a:ext cx="4396295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Ouvrir l’image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21503-C74A-D2B8-269F-93375C448A6B}"/>
              </a:ext>
            </a:extLst>
          </p:cNvPr>
          <p:cNvSpPr/>
          <p:nvPr/>
        </p:nvSpPr>
        <p:spPr>
          <a:xfrm>
            <a:off x="1474152" y="2860954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Chercher les indices du maximum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3DD512-2E49-08E6-A8FB-5885129474D4}"/>
              </a:ext>
            </a:extLst>
          </p:cNvPr>
          <p:cNvSpPr/>
          <p:nvPr/>
        </p:nvSpPr>
        <p:spPr>
          <a:xfrm>
            <a:off x="1474152" y="3342538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Afficher la coupe de l’image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2A9831-A663-81BC-EC42-87729A8DE775}"/>
              </a:ext>
            </a:extLst>
          </p:cNvPr>
          <p:cNvSpPr/>
          <p:nvPr/>
        </p:nvSpPr>
        <p:spPr>
          <a:xfrm>
            <a:off x="1474152" y="3824122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Mesurer la taille de la figure de diffraction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1E3C71C-9745-5BF8-8F22-0BF5D91FA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029" y="1459397"/>
            <a:ext cx="2630022" cy="206780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F790786-8867-B1A0-884C-F1CCE4AC4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625615"/>
            <a:ext cx="2380411" cy="177766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2AF1260-75B1-1008-A5F0-37D333C316FA}"/>
              </a:ext>
            </a:extLst>
          </p:cNvPr>
          <p:cNvSpPr/>
          <p:nvPr/>
        </p:nvSpPr>
        <p:spPr>
          <a:xfrm>
            <a:off x="1474152" y="4305706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Stocker le résultat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61754A-9B0B-7303-185B-FED59799B174}"/>
              </a:ext>
            </a:extLst>
          </p:cNvPr>
          <p:cNvSpPr/>
          <p:nvPr/>
        </p:nvSpPr>
        <p:spPr>
          <a:xfrm>
            <a:off x="743267" y="1654440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Pour un ensemble d’images</a:t>
            </a:r>
          </a:p>
        </p:txBody>
      </p: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B8785091-0379-7214-504D-6CBE2DB185F2}"/>
              </a:ext>
            </a:extLst>
          </p:cNvPr>
          <p:cNvCxnSpPr>
            <a:stCxn id="18" idx="2"/>
            <a:endCxn id="6" idx="0"/>
          </p:cNvCxnSpPr>
          <p:nvPr/>
        </p:nvCxnSpPr>
        <p:spPr>
          <a:xfrm rot="5400000" flipH="1">
            <a:off x="2524466" y="3527204"/>
            <a:ext cx="2295668" cy="12700"/>
          </a:xfrm>
          <a:prstGeom prst="bentConnector5">
            <a:avLst>
              <a:gd name="adj1" fmla="val -9958"/>
              <a:gd name="adj2" fmla="val 19108252"/>
              <a:gd name="adj3" fmla="val 109958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950468F-8709-A988-5853-4AAEF7D775E0}"/>
              </a:ext>
            </a:extLst>
          </p:cNvPr>
          <p:cNvSpPr/>
          <p:nvPr/>
        </p:nvSpPr>
        <p:spPr>
          <a:xfrm>
            <a:off x="743267" y="5218612"/>
            <a:ext cx="4396296" cy="6335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rgbClr val="FFFFFF"/>
                </a:solidFill>
              </a:rPr>
              <a:t>Afficher la loi en</a:t>
            </a:r>
            <a:r>
              <a:rPr lang="fr-FR" sz="1600" b="1" dirty="0">
                <a:solidFill>
                  <a:srgbClr val="FFFFFF"/>
                </a:solidFill>
              </a:rPr>
              <a:t> taille de l’objet diffractant </a:t>
            </a:r>
            <a:r>
              <a:rPr lang="fr-FR" sz="1600" dirty="0">
                <a:solidFill>
                  <a:srgbClr val="FFFFFF"/>
                </a:solidFill>
              </a:rPr>
              <a:t>et </a:t>
            </a:r>
            <a:r>
              <a:rPr lang="fr-FR" sz="1600" b="1" dirty="0">
                <a:solidFill>
                  <a:srgbClr val="FFFFFF"/>
                </a:solidFill>
              </a:rPr>
              <a:t>taille de la figure de diffraction</a:t>
            </a:r>
            <a:endParaRPr lang="fr-FR" sz="1600" dirty="0">
              <a:solidFill>
                <a:srgbClr val="FFFFFF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A8EA8C2-B546-9DB7-796C-9415ABAD5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611" y="2678787"/>
            <a:ext cx="2076740" cy="60968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15571C6-345E-EE03-6EE6-7A863C0BFC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018" y="3602822"/>
            <a:ext cx="1228896" cy="59063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F12CC80-50D9-794E-BECD-3D18C53587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3026" y="4799205"/>
            <a:ext cx="1490325" cy="16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65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F9BE-BA9C-EBDB-7155-A53FB1DFA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0A535D-EBDB-B690-B8AB-6F4A954DB3E4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668FB06-BFA2-1741-5B99-2239E0B2BB4A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Diffraction / </a:t>
            </a:r>
            <a:r>
              <a:rPr lang="fr-FR" sz="2400" dirty="0"/>
              <a:t>Algorithme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736D5F-66F9-A613-7B59-2CCF34005364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08E613BB-8367-B1DC-3639-44D06E44C8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4BD2E5-D45C-E728-0688-A4345AAAEB52}"/>
              </a:ext>
            </a:extLst>
          </p:cNvPr>
          <p:cNvSpPr/>
          <p:nvPr/>
        </p:nvSpPr>
        <p:spPr>
          <a:xfrm>
            <a:off x="1474152" y="2379370"/>
            <a:ext cx="4396295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Ouvrir l’image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83B7D2-39CB-9A64-2E3E-04D2DB2E21BE}"/>
              </a:ext>
            </a:extLst>
          </p:cNvPr>
          <p:cNvSpPr/>
          <p:nvPr/>
        </p:nvSpPr>
        <p:spPr>
          <a:xfrm>
            <a:off x="1474152" y="2860954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Chercher les indices du maximum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FA121-5339-96F7-4D4D-67CEE82E687A}"/>
              </a:ext>
            </a:extLst>
          </p:cNvPr>
          <p:cNvSpPr/>
          <p:nvPr/>
        </p:nvSpPr>
        <p:spPr>
          <a:xfrm>
            <a:off x="1474152" y="3342538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Afficher la coupe de l’image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36CC59-37E5-FBA9-E0DE-0B5810E8DE0B}"/>
              </a:ext>
            </a:extLst>
          </p:cNvPr>
          <p:cNvSpPr/>
          <p:nvPr/>
        </p:nvSpPr>
        <p:spPr>
          <a:xfrm>
            <a:off x="1474152" y="3824122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Mesurer la taille de la figure de diffraction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58857FA-D402-67A2-C53A-BBB5120F4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029" y="1459397"/>
            <a:ext cx="2630022" cy="206780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D81A745-1286-BB11-5DE5-F49FCE26A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625615"/>
            <a:ext cx="2380411" cy="177766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E56D2EA-FA29-C54B-95D8-EB6CBF56B552}"/>
              </a:ext>
            </a:extLst>
          </p:cNvPr>
          <p:cNvSpPr/>
          <p:nvPr/>
        </p:nvSpPr>
        <p:spPr>
          <a:xfrm>
            <a:off x="1474152" y="4305706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Stocker le résultat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03B282-53FE-FBA5-7122-7496AD4408EE}"/>
              </a:ext>
            </a:extLst>
          </p:cNvPr>
          <p:cNvSpPr/>
          <p:nvPr/>
        </p:nvSpPr>
        <p:spPr>
          <a:xfrm>
            <a:off x="743267" y="1654440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Pour un ensemble d’images</a:t>
            </a:r>
          </a:p>
        </p:txBody>
      </p: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40C5AE32-D488-2E1C-AB56-3F99A0F8F113}"/>
              </a:ext>
            </a:extLst>
          </p:cNvPr>
          <p:cNvCxnSpPr>
            <a:stCxn id="18" idx="2"/>
            <a:endCxn id="6" idx="0"/>
          </p:cNvCxnSpPr>
          <p:nvPr/>
        </p:nvCxnSpPr>
        <p:spPr>
          <a:xfrm rot="5400000" flipH="1">
            <a:off x="2524466" y="3527204"/>
            <a:ext cx="2295668" cy="12700"/>
          </a:xfrm>
          <a:prstGeom prst="bentConnector5">
            <a:avLst>
              <a:gd name="adj1" fmla="val -9958"/>
              <a:gd name="adj2" fmla="val 19108252"/>
              <a:gd name="adj3" fmla="val 109958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53BC7CD-7DFD-5B3E-BEAE-DF876D7F3ABC}"/>
              </a:ext>
            </a:extLst>
          </p:cNvPr>
          <p:cNvSpPr/>
          <p:nvPr/>
        </p:nvSpPr>
        <p:spPr>
          <a:xfrm>
            <a:off x="743267" y="5218612"/>
            <a:ext cx="4396296" cy="6335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rgbClr val="FFFFFF"/>
                </a:solidFill>
              </a:rPr>
              <a:t>Afficher la loi en</a:t>
            </a:r>
            <a:r>
              <a:rPr lang="fr-FR" sz="1600" b="1" dirty="0">
                <a:solidFill>
                  <a:srgbClr val="FFFFFF"/>
                </a:solidFill>
              </a:rPr>
              <a:t> taille de l’objet diffractant </a:t>
            </a:r>
            <a:r>
              <a:rPr lang="fr-FR" sz="1600" dirty="0">
                <a:solidFill>
                  <a:srgbClr val="FFFFFF"/>
                </a:solidFill>
              </a:rPr>
              <a:t>et </a:t>
            </a:r>
            <a:r>
              <a:rPr lang="fr-FR" sz="1600" b="1" dirty="0">
                <a:solidFill>
                  <a:srgbClr val="FFFFFF"/>
                </a:solidFill>
              </a:rPr>
              <a:t>taille de la figure de diffraction</a:t>
            </a:r>
            <a:endParaRPr lang="fr-FR" sz="1600" dirty="0">
              <a:solidFill>
                <a:srgbClr val="FFFFFF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AF40404-7C0D-6411-3B22-86E3CD4EDC13}"/>
              </a:ext>
            </a:extLst>
          </p:cNvPr>
          <p:cNvSpPr txBox="1"/>
          <p:nvPr/>
        </p:nvSpPr>
        <p:spPr>
          <a:xfrm>
            <a:off x="5953913" y="3791172"/>
            <a:ext cx="27548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L’étape de </a:t>
            </a:r>
            <a:r>
              <a:rPr lang="fr-FR" sz="1400" b="1" dirty="0"/>
              <a:t>mesure de la taille de la figure de diffraction</a:t>
            </a:r>
            <a:r>
              <a:rPr lang="fr-FR" sz="1400" dirty="0"/>
              <a:t> peut être faite </a:t>
            </a:r>
            <a:r>
              <a:rPr lang="fr-FR" sz="1400" b="1" dirty="0"/>
              <a:t>manuellement</a:t>
            </a:r>
            <a:r>
              <a:rPr lang="fr-FR" sz="1400" dirty="0"/>
              <a:t>, </a:t>
            </a:r>
          </a:p>
          <a:p>
            <a:endParaRPr lang="fr-FR" i="1" dirty="0"/>
          </a:p>
          <a:p>
            <a:r>
              <a:rPr lang="fr-FR" sz="1400" i="1" dirty="0"/>
              <a:t>puis dans un second temps, automatisée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FA288-7D4A-1C17-C176-2B7B1C6BADC0}"/>
              </a:ext>
            </a:extLst>
          </p:cNvPr>
          <p:cNvSpPr/>
          <p:nvPr/>
        </p:nvSpPr>
        <p:spPr>
          <a:xfrm>
            <a:off x="6096001" y="5350719"/>
            <a:ext cx="2695524" cy="369332"/>
          </a:xfrm>
          <a:prstGeom prst="rect">
            <a:avLst/>
          </a:prstGeom>
          <a:solidFill>
            <a:srgbClr val="00206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Trouver minimums locaux proches de chaque côté du maximum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B0499C-845C-3147-B643-BB784D35E447}"/>
              </a:ext>
            </a:extLst>
          </p:cNvPr>
          <p:cNvSpPr/>
          <p:nvPr/>
        </p:nvSpPr>
        <p:spPr>
          <a:xfrm>
            <a:off x="6096001" y="5833048"/>
            <a:ext cx="2695524" cy="369332"/>
          </a:xfrm>
          <a:prstGeom prst="rect">
            <a:avLst/>
          </a:prstGeom>
          <a:solidFill>
            <a:srgbClr val="00206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Faire la différence entre les deux minimums trouvés</a:t>
            </a:r>
          </a:p>
        </p:txBody>
      </p:sp>
    </p:spTree>
    <p:extLst>
      <p:ext uri="{BB962C8B-B14F-4D97-AF65-F5344CB8AC3E}">
        <p14:creationId xmlns:p14="http://schemas.microsoft.com/office/powerpoint/2010/main" val="3816665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481D-C0D9-E538-2F84-A80990E2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685247-7F09-6DA3-B2FE-BB8F6DC6A2D8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60A045A-0826-3B65-A367-6D58876CB511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Diffraction / </a:t>
            </a:r>
            <a:r>
              <a:rPr lang="fr-FR" sz="2400" dirty="0"/>
              <a:t>Algorithme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3FE4D-7134-DD12-824D-3B154B7D0BCA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2B2CF409-4290-F53C-8300-130061A751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463E2D-1262-5182-DBE3-9D175D63B3B3}"/>
              </a:ext>
            </a:extLst>
          </p:cNvPr>
          <p:cNvSpPr/>
          <p:nvPr/>
        </p:nvSpPr>
        <p:spPr>
          <a:xfrm>
            <a:off x="1474152" y="2379370"/>
            <a:ext cx="4396295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Ouvrir l’image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D53A72-8C9D-B347-09F7-82C224EB5C64}"/>
              </a:ext>
            </a:extLst>
          </p:cNvPr>
          <p:cNvSpPr/>
          <p:nvPr/>
        </p:nvSpPr>
        <p:spPr>
          <a:xfrm>
            <a:off x="1474152" y="2860954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Chercher les indices du maximum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D4999-2363-0343-A6D0-C7C5CE63FB47}"/>
              </a:ext>
            </a:extLst>
          </p:cNvPr>
          <p:cNvSpPr/>
          <p:nvPr/>
        </p:nvSpPr>
        <p:spPr>
          <a:xfrm>
            <a:off x="1474152" y="3342538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Afficher la coupe de l’image*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05A1DE-2A0F-DAF4-7A29-E38722C5AD39}"/>
              </a:ext>
            </a:extLst>
          </p:cNvPr>
          <p:cNvSpPr/>
          <p:nvPr/>
        </p:nvSpPr>
        <p:spPr>
          <a:xfrm>
            <a:off x="1474152" y="3824122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Mesurer la taille de la figure de diffraction**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9E246A-5B11-B0AF-CE3A-803783C561C2}"/>
              </a:ext>
            </a:extLst>
          </p:cNvPr>
          <p:cNvSpPr/>
          <p:nvPr/>
        </p:nvSpPr>
        <p:spPr>
          <a:xfrm>
            <a:off x="1474152" y="4305706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Stocker le résultat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59AAC8-C939-782D-1F4D-742C36A8D543}"/>
              </a:ext>
            </a:extLst>
          </p:cNvPr>
          <p:cNvSpPr/>
          <p:nvPr/>
        </p:nvSpPr>
        <p:spPr>
          <a:xfrm>
            <a:off x="743267" y="1654440"/>
            <a:ext cx="4396296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Pour un ensemble d’images</a:t>
            </a:r>
          </a:p>
        </p:txBody>
      </p: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2B24A1B5-0BA2-2D5A-C6E5-E1486BDECBCD}"/>
              </a:ext>
            </a:extLst>
          </p:cNvPr>
          <p:cNvCxnSpPr>
            <a:stCxn id="18" idx="2"/>
            <a:endCxn id="6" idx="0"/>
          </p:cNvCxnSpPr>
          <p:nvPr/>
        </p:nvCxnSpPr>
        <p:spPr>
          <a:xfrm rot="5400000" flipH="1">
            <a:off x="2524466" y="3527204"/>
            <a:ext cx="2295668" cy="12700"/>
          </a:xfrm>
          <a:prstGeom prst="bentConnector5">
            <a:avLst>
              <a:gd name="adj1" fmla="val -9958"/>
              <a:gd name="adj2" fmla="val 19108252"/>
              <a:gd name="adj3" fmla="val 109958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AAC94D9-5E26-B805-96BB-7D97294A709E}"/>
              </a:ext>
            </a:extLst>
          </p:cNvPr>
          <p:cNvSpPr/>
          <p:nvPr/>
        </p:nvSpPr>
        <p:spPr>
          <a:xfrm>
            <a:off x="743267" y="5218612"/>
            <a:ext cx="4396296" cy="6335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rgbClr val="FFFFFF"/>
                </a:solidFill>
              </a:rPr>
              <a:t>Afficher la loi en</a:t>
            </a:r>
            <a:r>
              <a:rPr lang="fr-FR" sz="1600" b="1" dirty="0">
                <a:solidFill>
                  <a:srgbClr val="FFFFFF"/>
                </a:solidFill>
              </a:rPr>
              <a:t> taille de l’objet diffractant </a:t>
            </a:r>
            <a:r>
              <a:rPr lang="fr-FR" sz="1600" dirty="0">
                <a:solidFill>
                  <a:srgbClr val="FFFFFF"/>
                </a:solidFill>
              </a:rPr>
              <a:t>et </a:t>
            </a:r>
            <a:r>
              <a:rPr lang="fr-FR" sz="1600" b="1" dirty="0">
                <a:solidFill>
                  <a:srgbClr val="FFFFFF"/>
                </a:solidFill>
              </a:rPr>
              <a:t>taille de la figure de diffraction</a:t>
            </a:r>
            <a:endParaRPr lang="fr-FR" sz="1600" dirty="0">
              <a:solidFill>
                <a:srgbClr val="FFFFFF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D5CA4D1-6643-F8D4-535C-445F3DD35726}"/>
              </a:ext>
            </a:extLst>
          </p:cNvPr>
          <p:cNvSpPr txBox="1"/>
          <p:nvPr/>
        </p:nvSpPr>
        <p:spPr>
          <a:xfrm>
            <a:off x="6786016" y="5535385"/>
            <a:ext cx="4847756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** L’étape de </a:t>
            </a:r>
            <a:r>
              <a:rPr lang="fr-FR" sz="1400" b="1" dirty="0"/>
              <a:t>mesure de la taille de la figure de diffraction</a:t>
            </a:r>
            <a:r>
              <a:rPr lang="fr-FR" sz="1400" dirty="0"/>
              <a:t> peut être faite </a:t>
            </a:r>
            <a:r>
              <a:rPr lang="fr-FR" sz="1400" b="1" dirty="0"/>
              <a:t>manuellement</a:t>
            </a:r>
            <a:r>
              <a:rPr lang="fr-FR" sz="1400" dirty="0"/>
              <a:t>, </a:t>
            </a:r>
          </a:p>
          <a:p>
            <a:endParaRPr lang="fr-FR" i="1" dirty="0"/>
          </a:p>
          <a:p>
            <a:r>
              <a:rPr lang="fr-FR" sz="1400" i="1" dirty="0"/>
              <a:t>puis dans un second temps, automatisée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2331110-3F8B-0D0B-9EC2-C6EF6F55B747}"/>
              </a:ext>
            </a:extLst>
          </p:cNvPr>
          <p:cNvSpPr txBox="1"/>
          <p:nvPr/>
        </p:nvSpPr>
        <p:spPr>
          <a:xfrm>
            <a:off x="7953918" y="1446837"/>
            <a:ext cx="3679854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Quelques fonctions intéressantes</a:t>
            </a:r>
          </a:p>
          <a:p>
            <a:endParaRPr lang="fr-FR" dirty="0"/>
          </a:p>
          <a:p>
            <a:r>
              <a:rPr lang="fr-FR" dirty="0"/>
              <a:t>	</a:t>
            </a:r>
            <a:r>
              <a:rPr lang="fr-FR" dirty="0" err="1"/>
              <a:t>numpy.unravel_index</a:t>
            </a:r>
            <a:endParaRPr lang="fr-FR" dirty="0"/>
          </a:p>
          <a:p>
            <a:r>
              <a:rPr lang="fr-FR" dirty="0"/>
              <a:t>	cv2.imread</a:t>
            </a:r>
          </a:p>
          <a:p>
            <a:r>
              <a:rPr lang="fr-FR" dirty="0"/>
              <a:t>	scipy.special.j1</a:t>
            </a:r>
            <a:br>
              <a:rPr lang="fr-FR" dirty="0"/>
            </a:br>
            <a:r>
              <a:rPr lang="fr-FR" dirty="0"/>
              <a:t>	</a:t>
            </a:r>
            <a:r>
              <a:rPr lang="fr-FR" dirty="0" err="1"/>
              <a:t>scipy.optimize.curve_fit</a:t>
            </a:r>
            <a:endParaRPr lang="fr-FR" dirty="0"/>
          </a:p>
          <a:p>
            <a:r>
              <a:rPr lang="fr-FR" dirty="0"/>
              <a:t>	</a:t>
            </a:r>
            <a:r>
              <a:rPr lang="fr-FR" dirty="0" err="1"/>
              <a:t>scipy.signal.argrelextrema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80249C5-381D-002C-79FC-755DF579827A}"/>
              </a:ext>
            </a:extLst>
          </p:cNvPr>
          <p:cNvSpPr txBox="1"/>
          <p:nvPr/>
        </p:nvSpPr>
        <p:spPr>
          <a:xfrm>
            <a:off x="6786015" y="4193454"/>
            <a:ext cx="4908274" cy="95410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* Afin de </a:t>
            </a:r>
            <a:r>
              <a:rPr lang="fr-FR" sz="1400" b="1" dirty="0"/>
              <a:t>lisser les données </a:t>
            </a:r>
            <a:r>
              <a:rPr lang="fr-FR" sz="1400" dirty="0"/>
              <a:t>de la coupe dans l’image, il est important de </a:t>
            </a:r>
            <a:r>
              <a:rPr lang="fr-FR" sz="1400" b="1" dirty="0"/>
              <a:t>faire la moyenne sur plusieurs lignes</a:t>
            </a:r>
            <a:r>
              <a:rPr lang="fr-FR" sz="1400" dirty="0"/>
              <a:t> (proches du maximum). Le nombre de lignes utilisées a un impact sur le résultat… </a:t>
            </a:r>
            <a:endParaRPr lang="fr-FR" sz="1400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48E865-4B58-B36A-F900-8F376F01ABC3}"/>
              </a:ext>
            </a:extLst>
          </p:cNvPr>
          <p:cNvSpPr/>
          <p:nvPr/>
        </p:nvSpPr>
        <p:spPr>
          <a:xfrm>
            <a:off x="201278" y="6012442"/>
            <a:ext cx="3145426" cy="690599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+ Rédaction CR de TP</a:t>
            </a:r>
          </a:p>
          <a:p>
            <a:pPr algn="ctr"/>
            <a:r>
              <a:rPr lang="fr-FR" sz="1600" dirty="0">
                <a:solidFill>
                  <a:schemeClr val="tx1"/>
                </a:solidFill>
              </a:rPr>
              <a:t>Vendredi 10 avril 2026</a:t>
            </a:r>
          </a:p>
          <a:p>
            <a:pPr algn="ctr"/>
            <a:r>
              <a:rPr lang="fr-FR" sz="1200" dirty="0" err="1">
                <a:solidFill>
                  <a:schemeClr val="tx1"/>
                </a:solidFill>
              </a:rPr>
              <a:t>eCampus</a:t>
            </a:r>
            <a:r>
              <a:rPr lang="fr-FR" sz="1200" dirty="0">
                <a:solidFill>
                  <a:schemeClr val="tx1"/>
                </a:solidFill>
              </a:rPr>
              <a:t> (21h)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DE84C3-5383-A7C2-072F-4FAF8ECD9C99}"/>
              </a:ext>
            </a:extLst>
          </p:cNvPr>
          <p:cNvSpPr/>
          <p:nvPr/>
        </p:nvSpPr>
        <p:spPr>
          <a:xfrm>
            <a:off x="3443922" y="6012441"/>
            <a:ext cx="1695641" cy="690599"/>
          </a:xfrm>
          <a:prstGeom prst="rect">
            <a:avLst/>
          </a:prstGeom>
          <a:solidFill>
            <a:srgbClr val="D6B4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</a:rPr>
              <a:t>CR</a:t>
            </a:r>
            <a:r>
              <a:rPr lang="fr-FR" sz="1200" dirty="0">
                <a:solidFill>
                  <a:schemeClr val="tx1"/>
                </a:solidFill>
              </a:rPr>
              <a:t> -&gt; PDF</a:t>
            </a:r>
          </a:p>
          <a:p>
            <a:r>
              <a:rPr lang="fr-FR" sz="1200" b="1" dirty="0" err="1">
                <a:solidFill>
                  <a:schemeClr val="tx1"/>
                </a:solidFill>
              </a:rPr>
              <a:t>Code</a:t>
            </a:r>
            <a:r>
              <a:rPr lang="fr-FR" sz="1200" dirty="0" err="1">
                <a:solidFill>
                  <a:schemeClr val="tx1"/>
                </a:solidFill>
              </a:rPr>
              <a:t>+Images</a:t>
            </a:r>
            <a:r>
              <a:rPr lang="fr-FR" sz="1200" dirty="0">
                <a:solidFill>
                  <a:schemeClr val="tx1"/>
                </a:solidFill>
              </a:rPr>
              <a:t> -&gt; ZIP</a:t>
            </a:r>
            <a:endParaRPr lang="fr-FR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4226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412624"/>
      </a:dk2>
      <a:lt2>
        <a:srgbClr val="E2E8E6"/>
      </a:lt2>
      <a:accent1>
        <a:srgbClr val="C696A7"/>
      </a:accent1>
      <a:accent2>
        <a:srgbClr val="BA827F"/>
      </a:accent2>
      <a:accent3>
        <a:srgbClr val="BC9E83"/>
      </a:accent3>
      <a:accent4>
        <a:srgbClr val="ABA575"/>
      </a:accent4>
      <a:accent5>
        <a:srgbClr val="9CA87F"/>
      </a:accent5>
      <a:accent6>
        <a:srgbClr val="85AD76"/>
      </a:accent6>
      <a:hlink>
        <a:srgbClr val="568F7B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TM03457452[[fn=Céleste]]</Template>
  <TotalTime>0</TotalTime>
  <Words>462</Words>
  <Application>Microsoft Office PowerPoint</Application>
  <PresentationFormat>Grand écran</PresentationFormat>
  <Paragraphs>118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Calibri</vt:lpstr>
      <vt:lpstr>LMRomanDemi10-Regular</vt:lpstr>
      <vt:lpstr>AccentBoxVTI</vt:lpstr>
      <vt:lpstr>ONIP-2 / FISA   Diffraction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ONIP - B1 - Classes et objets</dc:title>
  <dc:creator>Julien VILLEMEJANE</dc:creator>
  <cp:lastModifiedBy>Julien VILLEMEJANE</cp:lastModifiedBy>
  <cp:revision>191</cp:revision>
  <dcterms:created xsi:type="dcterms:W3CDTF">2023-04-08T12:37:13Z</dcterms:created>
  <dcterms:modified xsi:type="dcterms:W3CDTF">2026-03-20T10:28:58Z</dcterms:modified>
</cp:coreProperties>
</file>